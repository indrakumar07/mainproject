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aleway"/>
      <p:regular r:id="rId29"/>
      <p:bold r:id="rId30"/>
      <p:italic r:id="rId31"/>
      <p:boldItalic r:id="rId32"/>
    </p:embeddedFont>
    <p:embeddedFont>
      <p:font typeface="Lato"/>
      <p:regular r:id="rId33"/>
      <p:bold r:id="rId34"/>
      <p:italic r:id="rId35"/>
      <p:boldItalic r:id="rId36"/>
    </p:embeddedFont>
    <p:embeddedFont>
      <p:font typeface="Montserrat"/>
      <p:regular r:id="rId37"/>
      <p:bold r:id="rId38"/>
      <p:italic r:id="rId39"/>
      <p:boldItalic r:id="rId40"/>
    </p:embeddedFont>
    <p:embeddedFont>
      <p:font typeface="Montserrat Medium"/>
      <p:regular r:id="rId41"/>
      <p:bold r:id="rId42"/>
      <p:italic r:id="rId43"/>
      <p:boldItalic r:id="rId44"/>
    </p:embeddedFont>
    <p:embeddedFont>
      <p:font typeface="Montserrat Light"/>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Italic.fntdata"/><Relationship Id="rId20" Type="http://schemas.openxmlformats.org/officeDocument/2006/relationships/slide" Target="slides/slide15.xml"/><Relationship Id="rId42" Type="http://schemas.openxmlformats.org/officeDocument/2006/relationships/font" Target="fonts/MontserratMedium-bold.fntdata"/><Relationship Id="rId41" Type="http://schemas.openxmlformats.org/officeDocument/2006/relationships/font" Target="fonts/MontserratMedium-regular.fntdata"/><Relationship Id="rId22" Type="http://schemas.openxmlformats.org/officeDocument/2006/relationships/slide" Target="slides/slide17.xml"/><Relationship Id="rId44" Type="http://schemas.openxmlformats.org/officeDocument/2006/relationships/font" Target="fonts/MontserratMedium-boldItalic.fntdata"/><Relationship Id="rId21" Type="http://schemas.openxmlformats.org/officeDocument/2006/relationships/slide" Target="slides/slide16.xml"/><Relationship Id="rId43" Type="http://schemas.openxmlformats.org/officeDocument/2006/relationships/font" Target="fonts/MontserratMedium-italic.fntdata"/><Relationship Id="rId24" Type="http://schemas.openxmlformats.org/officeDocument/2006/relationships/slide" Target="slides/slide19.xml"/><Relationship Id="rId46" Type="http://schemas.openxmlformats.org/officeDocument/2006/relationships/font" Target="fonts/MontserratLight-bold.fntdata"/><Relationship Id="rId23" Type="http://schemas.openxmlformats.org/officeDocument/2006/relationships/slide" Target="slides/slide18.xml"/><Relationship Id="rId45" Type="http://schemas.openxmlformats.org/officeDocument/2006/relationships/font" Target="fonts/Montserrat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MontserratLight-boldItalic.fntdata"/><Relationship Id="rId25" Type="http://schemas.openxmlformats.org/officeDocument/2006/relationships/slide" Target="slides/slide20.xml"/><Relationship Id="rId47" Type="http://schemas.openxmlformats.org/officeDocument/2006/relationships/font" Target="fonts/MontserratLight-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6.xml"/><Relationship Id="rId33" Type="http://schemas.openxmlformats.org/officeDocument/2006/relationships/font" Target="fonts/Lato-regular.fntdata"/><Relationship Id="rId10" Type="http://schemas.openxmlformats.org/officeDocument/2006/relationships/slide" Target="slides/slide5.xml"/><Relationship Id="rId32" Type="http://schemas.openxmlformats.org/officeDocument/2006/relationships/font" Target="fonts/Raleway-boldItalic.fntdata"/><Relationship Id="rId13" Type="http://schemas.openxmlformats.org/officeDocument/2006/relationships/slide" Target="slides/slide8.xml"/><Relationship Id="rId35" Type="http://schemas.openxmlformats.org/officeDocument/2006/relationships/font" Target="fonts/Lato-italic.fntdata"/><Relationship Id="rId12" Type="http://schemas.openxmlformats.org/officeDocument/2006/relationships/slide" Target="slides/slide7.xml"/><Relationship Id="rId34" Type="http://schemas.openxmlformats.org/officeDocument/2006/relationships/font" Target="fonts/Lato-bold.fntdata"/><Relationship Id="rId15" Type="http://schemas.openxmlformats.org/officeDocument/2006/relationships/slide" Target="slides/slide10.xml"/><Relationship Id="rId37" Type="http://schemas.openxmlformats.org/officeDocument/2006/relationships/font" Target="fonts/Montserrat-regular.fntdata"/><Relationship Id="rId14" Type="http://schemas.openxmlformats.org/officeDocument/2006/relationships/slide" Target="slides/slide9.xml"/><Relationship Id="rId36" Type="http://schemas.openxmlformats.org/officeDocument/2006/relationships/font" Target="fonts/Lato-boldItalic.fntdata"/><Relationship Id="rId17" Type="http://schemas.openxmlformats.org/officeDocument/2006/relationships/slide" Target="slides/slide12.xml"/><Relationship Id="rId39" Type="http://schemas.openxmlformats.org/officeDocument/2006/relationships/font" Target="fonts/Montserrat-italic.fntdata"/><Relationship Id="rId16" Type="http://schemas.openxmlformats.org/officeDocument/2006/relationships/slide" Target="slides/slide11.xml"/><Relationship Id="rId38" Type="http://schemas.openxmlformats.org/officeDocument/2006/relationships/font" Target="fonts/Montserra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f58a64e45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f58a64e45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f58a64e45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f58a64e45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d1a428e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d1a428e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1d1a428e62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1d1a428e62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1d1a428e62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1d1a428e62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f58a64e45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f58a64e45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3245c9eca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3245c9eca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f58a64e45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f58a64e45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f58a64e45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f58a64e45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f58a64e45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f58a64e45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1d1a428e62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1d1a428e62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d1a428e6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d1a428e6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d1a428e6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d1a428e6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1d1a428e6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1d1a428e6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1d1a428e62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1d1a428e62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1d1a428e62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1d1a428e62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d1a428e62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d1a428e62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d1a428e62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d1a428e62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3245c9eca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3245c9eca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f58a64e458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f58a64e45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3245c9eca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3245c9eca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f58a64e4c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f58a64e4c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nvSpPr>
        <p:spPr>
          <a:xfrm>
            <a:off x="831600" y="1393950"/>
            <a:ext cx="8232900" cy="16647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sz="4200">
                <a:solidFill>
                  <a:srgbClr val="1A1A1A"/>
                </a:solidFill>
                <a:latin typeface="Montserrat"/>
                <a:ea typeface="Montserrat"/>
                <a:cs typeface="Montserrat"/>
                <a:sym typeface="Montserrat"/>
              </a:rPr>
              <a:t>Segmentation of Organs</a:t>
            </a:r>
            <a:endParaRPr b="1" sz="4200">
              <a:solidFill>
                <a:srgbClr val="1A1A1A"/>
              </a:solidFill>
              <a:latin typeface="Montserrat"/>
              <a:ea typeface="Montserrat"/>
              <a:cs typeface="Montserrat"/>
              <a:sym typeface="Montserrat"/>
            </a:endParaRPr>
          </a:p>
          <a:p>
            <a:pPr indent="0" lvl="0" marL="0" rtl="0" algn="just">
              <a:spcBef>
                <a:spcPts val="0"/>
              </a:spcBef>
              <a:spcAft>
                <a:spcPts val="0"/>
              </a:spcAft>
              <a:buNone/>
            </a:pPr>
            <a:r>
              <a:t/>
            </a:r>
            <a:endParaRPr b="1" sz="4200">
              <a:solidFill>
                <a:srgbClr val="1A1A1A"/>
              </a:solidFill>
              <a:latin typeface="Montserrat"/>
              <a:ea typeface="Montserrat"/>
              <a:cs typeface="Montserrat"/>
              <a:sym typeface="Montserrat"/>
            </a:endParaRPr>
          </a:p>
        </p:txBody>
      </p:sp>
      <p:sp>
        <p:nvSpPr>
          <p:cNvPr id="87" name="Google Shape;87;p13"/>
          <p:cNvSpPr txBox="1"/>
          <p:nvPr/>
        </p:nvSpPr>
        <p:spPr>
          <a:xfrm>
            <a:off x="4744300" y="2637625"/>
            <a:ext cx="4198500" cy="2087400"/>
          </a:xfrm>
          <a:prstGeom prst="rect">
            <a:avLst/>
          </a:prstGeom>
          <a:noFill/>
          <a:ln>
            <a:noFill/>
          </a:ln>
        </p:spPr>
        <p:txBody>
          <a:bodyPr anchorCtr="0" anchor="t" bIns="91425" lIns="91425" spcFirstLastPara="1" rIns="91425" wrap="square" tIns="91425">
            <a:normAutofit fontScale="40000" lnSpcReduction="10000"/>
          </a:bodyPr>
          <a:lstStyle/>
          <a:p>
            <a:pPr indent="0" lvl="0" marL="0" rtl="0" algn="l">
              <a:lnSpc>
                <a:spcPct val="150000"/>
              </a:lnSpc>
              <a:spcBef>
                <a:spcPts val="0"/>
              </a:spcBef>
              <a:spcAft>
                <a:spcPts val="0"/>
              </a:spcAft>
              <a:buNone/>
            </a:pPr>
            <a:r>
              <a:rPr lang="en" sz="3908">
                <a:solidFill>
                  <a:srgbClr val="595959"/>
                </a:solidFill>
                <a:latin typeface="Montserrat"/>
                <a:ea typeface="Montserrat"/>
                <a:cs typeface="Montserrat"/>
                <a:sym typeface="Montserrat"/>
              </a:rPr>
              <a:t>Team Members:</a:t>
            </a:r>
            <a:endParaRPr sz="3908">
              <a:solidFill>
                <a:srgbClr val="595959"/>
              </a:solidFill>
              <a:latin typeface="Montserrat"/>
              <a:ea typeface="Montserrat"/>
              <a:cs typeface="Montserrat"/>
              <a:sym typeface="Montserrat"/>
            </a:endParaRPr>
          </a:p>
          <a:p>
            <a:pPr indent="457200" lvl="0" marL="0" rtl="0" algn="l">
              <a:lnSpc>
                <a:spcPct val="150000"/>
              </a:lnSpc>
              <a:spcBef>
                <a:spcPts val="0"/>
              </a:spcBef>
              <a:spcAft>
                <a:spcPts val="0"/>
              </a:spcAft>
              <a:buNone/>
            </a:pPr>
            <a:r>
              <a:rPr lang="en" sz="3908">
                <a:solidFill>
                  <a:srgbClr val="595959"/>
                </a:solidFill>
                <a:latin typeface="Montserrat"/>
                <a:ea typeface="Montserrat"/>
                <a:cs typeface="Montserrat"/>
                <a:sym typeface="Montserrat"/>
              </a:rPr>
              <a:t>1.Hari Krishna    [1901044]</a:t>
            </a:r>
            <a:endParaRPr sz="3908">
              <a:solidFill>
                <a:srgbClr val="595959"/>
              </a:solidFill>
              <a:latin typeface="Montserrat"/>
              <a:ea typeface="Montserrat"/>
              <a:cs typeface="Montserrat"/>
              <a:sym typeface="Montserrat"/>
            </a:endParaRPr>
          </a:p>
          <a:p>
            <a:pPr indent="457200" lvl="0" marL="0" rtl="0" algn="l">
              <a:lnSpc>
                <a:spcPct val="150000"/>
              </a:lnSpc>
              <a:spcBef>
                <a:spcPts val="0"/>
              </a:spcBef>
              <a:spcAft>
                <a:spcPts val="0"/>
              </a:spcAft>
              <a:buNone/>
            </a:pPr>
            <a:r>
              <a:rPr lang="en" sz="3908">
                <a:solidFill>
                  <a:srgbClr val="595959"/>
                </a:solidFill>
                <a:latin typeface="Montserrat"/>
                <a:ea typeface="Montserrat"/>
                <a:cs typeface="Montserrat"/>
                <a:sym typeface="Montserrat"/>
              </a:rPr>
              <a:t>2.Indra Kumar  [1901054]</a:t>
            </a:r>
            <a:endParaRPr sz="3908">
              <a:solidFill>
                <a:srgbClr val="595959"/>
              </a:solidFill>
              <a:latin typeface="Montserrat"/>
              <a:ea typeface="Montserrat"/>
              <a:cs typeface="Montserrat"/>
              <a:sym typeface="Montserrat"/>
            </a:endParaRPr>
          </a:p>
          <a:p>
            <a:pPr indent="457200" lvl="0" marL="0" rtl="0" algn="l">
              <a:lnSpc>
                <a:spcPct val="150000"/>
              </a:lnSpc>
              <a:spcBef>
                <a:spcPts val="0"/>
              </a:spcBef>
              <a:spcAft>
                <a:spcPts val="0"/>
              </a:spcAft>
              <a:buNone/>
            </a:pPr>
            <a:r>
              <a:rPr lang="en" sz="3908">
                <a:solidFill>
                  <a:srgbClr val="595959"/>
                </a:solidFill>
                <a:latin typeface="Montserrat"/>
                <a:ea typeface="Montserrat"/>
                <a:cs typeface="Montserrat"/>
                <a:sym typeface="Montserrat"/>
              </a:rPr>
              <a:t>3.Jerry Alan       [1901059]</a:t>
            </a:r>
            <a:endParaRPr sz="5268">
              <a:solidFill>
                <a:srgbClr val="595959"/>
              </a:solidFill>
              <a:latin typeface="Montserrat"/>
              <a:ea typeface="Montserrat"/>
              <a:cs typeface="Montserrat"/>
              <a:sym typeface="Montserrat"/>
            </a:endParaRPr>
          </a:p>
          <a:p>
            <a:pPr indent="0" lvl="0" marL="0" rtl="0" algn="l">
              <a:spcBef>
                <a:spcPts val="0"/>
              </a:spcBef>
              <a:spcAft>
                <a:spcPts val="0"/>
              </a:spcAft>
              <a:buNone/>
            </a:pPr>
            <a:r>
              <a:rPr lang="en" sz="3850">
                <a:solidFill>
                  <a:srgbClr val="595959"/>
                </a:solidFill>
                <a:latin typeface="Montserrat"/>
                <a:ea typeface="Montserrat"/>
                <a:cs typeface="Montserrat"/>
                <a:sym typeface="Montserrat"/>
              </a:rPr>
              <a:t>Guide:</a:t>
            </a:r>
            <a:endParaRPr sz="3850">
              <a:solidFill>
                <a:srgbClr val="595959"/>
              </a:solidFill>
              <a:latin typeface="Montserrat"/>
              <a:ea typeface="Montserrat"/>
              <a:cs typeface="Montserrat"/>
              <a:sym typeface="Montserrat"/>
            </a:endParaRPr>
          </a:p>
          <a:p>
            <a:pPr indent="457200" lvl="0" marL="0" rtl="0" algn="l">
              <a:spcBef>
                <a:spcPts val="0"/>
              </a:spcBef>
              <a:spcAft>
                <a:spcPts val="0"/>
              </a:spcAft>
              <a:buNone/>
            </a:pPr>
            <a:r>
              <a:rPr lang="en" sz="3750">
                <a:latin typeface="Montserrat"/>
                <a:ea typeface="Montserrat"/>
                <a:cs typeface="Montserrat"/>
                <a:sym typeface="Montserrat"/>
              </a:rPr>
              <a:t>DR.R.ANURADHA,ASSO.PROF/CSE</a:t>
            </a:r>
            <a:endParaRPr sz="3750">
              <a:solidFill>
                <a:srgbClr val="595959"/>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Agenda:</a:t>
            </a:r>
            <a:endParaRPr>
              <a:latin typeface="Montserrat"/>
              <a:ea typeface="Montserrat"/>
              <a:cs typeface="Montserrat"/>
              <a:sym typeface="Montserrat"/>
            </a:endParaRPr>
          </a:p>
        </p:txBody>
      </p:sp>
      <p:sp>
        <p:nvSpPr>
          <p:cNvPr id="93" name="Google Shape;93;p14"/>
          <p:cNvSpPr txBox="1"/>
          <p:nvPr>
            <p:ph idx="1" type="body"/>
          </p:nvPr>
        </p:nvSpPr>
        <p:spPr>
          <a:xfrm>
            <a:off x="1963050" y="1724850"/>
            <a:ext cx="5676300" cy="2687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I</a:t>
            </a:r>
            <a:r>
              <a:rPr lang="en" sz="1500">
                <a:latin typeface="Montserrat Medium"/>
                <a:ea typeface="Montserrat Medium"/>
                <a:cs typeface="Montserrat Medium"/>
                <a:sym typeface="Montserrat Medium"/>
              </a:rPr>
              <a:t>ntroduction </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Abstract </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Existing and it's drawback</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Proposed and it's advantages</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Literature survey</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Problem description(ur work)</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Module description </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Requirement specification </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Screenshots</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Conclusion and future enhancement</a:t>
            </a:r>
            <a:endParaRPr sz="1500">
              <a:latin typeface="Montserrat Medium"/>
              <a:ea typeface="Montserrat Medium"/>
              <a:cs typeface="Montserrat Medium"/>
              <a:sym typeface="Montserrat Medium"/>
            </a:endParaRPr>
          </a:p>
          <a:p>
            <a:pPr indent="-323850" lvl="0" marL="457200" rtl="0" algn="l">
              <a:spcBef>
                <a:spcPts val="0"/>
              </a:spcBef>
              <a:spcAft>
                <a:spcPts val="0"/>
              </a:spcAft>
              <a:buSzPts val="1500"/>
              <a:buFont typeface="Montserrat Medium"/>
              <a:buChar char="➔"/>
            </a:pPr>
            <a:r>
              <a:rPr lang="en" sz="1500">
                <a:latin typeface="Montserrat Medium"/>
                <a:ea typeface="Montserrat Medium"/>
                <a:cs typeface="Montserrat Medium"/>
                <a:sym typeface="Montserrat Medium"/>
              </a:rPr>
              <a:t>References</a:t>
            </a:r>
            <a:endParaRPr sz="1500">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Introduction:</a:t>
            </a:r>
            <a:endParaRPr>
              <a:latin typeface="Montserrat"/>
              <a:ea typeface="Montserrat"/>
              <a:cs typeface="Montserrat"/>
              <a:sym typeface="Montserrat"/>
            </a:endParaRPr>
          </a:p>
        </p:txBody>
      </p:sp>
      <p:sp>
        <p:nvSpPr>
          <p:cNvPr id="99" name="Google Shape;99;p15"/>
          <p:cNvSpPr txBox="1"/>
          <p:nvPr>
            <p:ph idx="1" type="body"/>
          </p:nvPr>
        </p:nvSpPr>
        <p:spPr>
          <a:xfrm>
            <a:off x="833800" y="1853850"/>
            <a:ext cx="7688700" cy="3034800"/>
          </a:xfrm>
          <a:prstGeom prst="rect">
            <a:avLst/>
          </a:prstGeom>
        </p:spPr>
        <p:txBody>
          <a:bodyPr anchorCtr="0" anchor="t" bIns="91425" lIns="91425" spcFirstLastPara="1" rIns="91425" wrap="square" tIns="91425">
            <a:noAutofit/>
          </a:bodyPr>
          <a:lstStyle/>
          <a:p>
            <a:pPr indent="-323850" lvl="0" marL="457200" rtl="0" algn="just">
              <a:spcBef>
                <a:spcPts val="0"/>
              </a:spcBef>
              <a:spcAft>
                <a:spcPts val="0"/>
              </a:spcAft>
              <a:buClr>
                <a:srgbClr val="B7B7B7"/>
              </a:buClr>
              <a:buSzPts val="1500"/>
              <a:buFont typeface="Montserrat"/>
              <a:buChar char="●"/>
            </a:pPr>
            <a:r>
              <a:rPr lang="en" sz="1500">
                <a:solidFill>
                  <a:srgbClr val="000000"/>
                </a:solidFill>
                <a:latin typeface="Montserrat"/>
                <a:ea typeface="Montserrat"/>
                <a:cs typeface="Montserrat"/>
                <a:sym typeface="Montserrat"/>
              </a:rPr>
              <a:t>Segmentation is the key process of identification of ROI of a disease region to assist in the diagnosis of diseases. It is very important in medical imaging where localization is paramount to the analysis of scans. </a:t>
            </a:r>
            <a:endParaRPr sz="1500">
              <a:solidFill>
                <a:srgbClr val="000000"/>
              </a:solidFill>
              <a:latin typeface="Montserrat"/>
              <a:ea typeface="Montserrat"/>
              <a:cs typeface="Montserrat"/>
              <a:sym typeface="Montserrat"/>
            </a:endParaRPr>
          </a:p>
          <a:p>
            <a:pPr indent="-323850" lvl="0" marL="457200" rtl="0" algn="just">
              <a:spcBef>
                <a:spcPts val="0"/>
              </a:spcBef>
              <a:spcAft>
                <a:spcPts val="0"/>
              </a:spcAft>
              <a:buClr>
                <a:srgbClr val="B7B7B7"/>
              </a:buClr>
              <a:buSzPts val="1500"/>
              <a:buFont typeface="Montserrat"/>
              <a:buChar char="●"/>
            </a:pPr>
            <a:r>
              <a:rPr lang="en" sz="1500">
                <a:solidFill>
                  <a:srgbClr val="000000"/>
                </a:solidFill>
                <a:latin typeface="Montserrat"/>
                <a:ea typeface="Montserrat"/>
                <a:cs typeface="Montserrat"/>
                <a:sym typeface="Montserrat"/>
              </a:rPr>
              <a:t>Segmentation classifies each pixel to the part of the image the pixel belongs to and it produces the output for each pixel. </a:t>
            </a:r>
            <a:endParaRPr sz="1500">
              <a:solidFill>
                <a:srgbClr val="000000"/>
              </a:solidFill>
              <a:latin typeface="Montserrat"/>
              <a:ea typeface="Montserrat"/>
              <a:cs typeface="Montserrat"/>
              <a:sym typeface="Montserrat"/>
            </a:endParaRPr>
          </a:p>
          <a:p>
            <a:pPr indent="-323850" lvl="0" marL="457200" rtl="0" algn="just">
              <a:spcBef>
                <a:spcPts val="0"/>
              </a:spcBef>
              <a:spcAft>
                <a:spcPts val="0"/>
              </a:spcAft>
              <a:buClr>
                <a:srgbClr val="B7B7B7"/>
              </a:buClr>
              <a:buSzPts val="1500"/>
              <a:buFont typeface="Montserrat"/>
              <a:buChar char="●"/>
            </a:pPr>
            <a:r>
              <a:rPr lang="en" sz="1500">
                <a:solidFill>
                  <a:srgbClr val="000000"/>
                </a:solidFill>
                <a:latin typeface="Montserrat"/>
                <a:ea typeface="Montserrat"/>
                <a:cs typeface="Montserrat"/>
                <a:sym typeface="Montserrat"/>
              </a:rPr>
              <a:t>Recent advancement in machine learning methodologies has led to the development of deep learning techniques in the field of medical images analysis for the diagnosis of various diseases </a:t>
            </a:r>
            <a:endParaRPr sz="150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Abstract</a:t>
            </a:r>
            <a:endParaRPr>
              <a:latin typeface="Montserrat"/>
              <a:ea typeface="Montserrat"/>
              <a:cs typeface="Montserrat"/>
              <a:sym typeface="Montserrat"/>
            </a:endParaRPr>
          </a:p>
        </p:txBody>
      </p:sp>
      <p:sp>
        <p:nvSpPr>
          <p:cNvPr id="105" name="Google Shape;105;p16"/>
          <p:cNvSpPr txBox="1"/>
          <p:nvPr>
            <p:ph idx="1" type="body"/>
          </p:nvPr>
        </p:nvSpPr>
        <p:spPr>
          <a:xfrm>
            <a:off x="727650" y="1853850"/>
            <a:ext cx="7688700" cy="2628000"/>
          </a:xfrm>
          <a:prstGeom prst="rect">
            <a:avLst/>
          </a:prstGeom>
        </p:spPr>
        <p:txBody>
          <a:bodyPr anchorCtr="0" anchor="t" bIns="91425" lIns="91425" spcFirstLastPara="1" rIns="91425" wrap="square" tIns="91425">
            <a:noAutofit/>
          </a:bodyPr>
          <a:lstStyle/>
          <a:p>
            <a:pPr indent="457200" lvl="0" marL="0" rtl="0" algn="just">
              <a:spcBef>
                <a:spcPts val="0"/>
              </a:spcBef>
              <a:spcAft>
                <a:spcPts val="0"/>
              </a:spcAft>
              <a:buNone/>
            </a:pPr>
            <a:r>
              <a:rPr lang="en" sz="1500">
                <a:solidFill>
                  <a:srgbClr val="000000"/>
                </a:solidFill>
                <a:latin typeface="Montserrat"/>
                <a:ea typeface="Montserrat"/>
                <a:cs typeface="Montserrat"/>
                <a:sym typeface="Montserrat"/>
              </a:rPr>
              <a:t>Th</a:t>
            </a:r>
            <a:r>
              <a:rPr lang="en" sz="1500">
                <a:solidFill>
                  <a:srgbClr val="000000"/>
                </a:solidFill>
                <a:latin typeface="Montserrat"/>
                <a:ea typeface="Montserrat"/>
                <a:cs typeface="Montserrat"/>
                <a:sym typeface="Montserrat"/>
              </a:rPr>
              <a:t>is project concentrates on medical image segmentation using deep learning and image processing techniques which helps doctors or clinicians to diagnose certain types of abnormal things in a particular organ. </a:t>
            </a:r>
            <a:endParaRPr sz="1500">
              <a:solidFill>
                <a:srgbClr val="000000"/>
              </a:solidFill>
              <a:latin typeface="Montserrat"/>
              <a:ea typeface="Montserrat"/>
              <a:cs typeface="Montserrat"/>
              <a:sym typeface="Montserrat"/>
            </a:endParaRPr>
          </a:p>
          <a:p>
            <a:pPr indent="0" lvl="0" marL="0" rtl="0" algn="just">
              <a:spcBef>
                <a:spcPts val="1200"/>
              </a:spcBef>
              <a:spcAft>
                <a:spcPts val="1200"/>
              </a:spcAft>
              <a:buNone/>
            </a:pPr>
            <a:r>
              <a:rPr lang="en" sz="1500">
                <a:solidFill>
                  <a:srgbClr val="000000"/>
                </a:solidFill>
                <a:latin typeface="Montserrat"/>
                <a:ea typeface="Montserrat"/>
                <a:cs typeface="Montserrat"/>
                <a:sym typeface="Montserrat"/>
              </a:rPr>
              <a:t>The primary focus is on segmenting brain tumors into these three categories (glioma tumor, meningioma tumor, pituitary tumor), secondly Lung segmentation using chest radiographic images to diagnose pulmonary vascular problems, finally retina blood vessel segmentation to diagnose diabetic retinopathy, cardiovascular and ophthalmologic diseases.</a:t>
            </a:r>
            <a:endParaRPr sz="1500">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Existing System</a:t>
            </a:r>
            <a:endParaRPr>
              <a:latin typeface="Montserrat"/>
              <a:ea typeface="Montserrat"/>
              <a:cs typeface="Montserrat"/>
              <a:sym typeface="Montserrat"/>
            </a:endParaRPr>
          </a:p>
        </p:txBody>
      </p:sp>
      <p:sp>
        <p:nvSpPr>
          <p:cNvPr id="111" name="Google Shape;111;p17"/>
          <p:cNvSpPr txBox="1"/>
          <p:nvPr>
            <p:ph idx="1" type="body"/>
          </p:nvPr>
        </p:nvSpPr>
        <p:spPr>
          <a:xfrm>
            <a:off x="1100975" y="1962775"/>
            <a:ext cx="7688700" cy="2261100"/>
          </a:xfrm>
          <a:prstGeom prst="rect">
            <a:avLst/>
          </a:prstGeom>
        </p:spPr>
        <p:txBody>
          <a:bodyPr anchorCtr="0" anchor="t" bIns="91425" lIns="91425" spcFirstLastPara="1" rIns="91425" wrap="square" tIns="91425">
            <a:normAutofit/>
          </a:bodyPr>
          <a:lstStyle/>
          <a:p>
            <a:pPr indent="457200" lvl="0" marL="0" rtl="0" algn="l">
              <a:spcBef>
                <a:spcPts val="0"/>
              </a:spcBef>
              <a:spcAft>
                <a:spcPts val="1200"/>
              </a:spcAft>
              <a:buNone/>
            </a:pPr>
            <a:r>
              <a:rPr lang="en" sz="1500">
                <a:solidFill>
                  <a:srgbClr val="000000"/>
                </a:solidFill>
                <a:latin typeface="Montserrat Light"/>
                <a:ea typeface="Montserrat Light"/>
                <a:cs typeface="Montserrat Light"/>
                <a:sym typeface="Montserrat Light"/>
              </a:rPr>
              <a:t>There are several image segmentation tools like 3Dslice, ITK-Snap and many more which are all require manual intervention in order to find or segment some abnormality from the radiographic images. In traditional method a clinician should require computational tools to find some abnormality in the images this slows down the process of treatment for the doctors as some doctors needs to see the images and start the treatment accordingly</a:t>
            </a:r>
            <a:endParaRPr sz="1500">
              <a:latin typeface="Montserrat Light"/>
              <a:ea typeface="Montserrat Light"/>
              <a:cs typeface="Montserrat Light"/>
              <a:sym typeface="Montserrat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7650" y="6760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Proposed System</a:t>
            </a:r>
            <a:endParaRPr>
              <a:latin typeface="Montserrat"/>
              <a:ea typeface="Montserrat"/>
              <a:cs typeface="Montserrat"/>
              <a:sym typeface="Montserrat"/>
            </a:endParaRPr>
          </a:p>
        </p:txBody>
      </p:sp>
      <p:sp>
        <p:nvSpPr>
          <p:cNvPr id="117" name="Google Shape;117;p18"/>
          <p:cNvSpPr txBox="1"/>
          <p:nvPr>
            <p:ph idx="1" type="body"/>
          </p:nvPr>
        </p:nvSpPr>
        <p:spPr>
          <a:xfrm>
            <a:off x="727650" y="1211275"/>
            <a:ext cx="8231700" cy="3630300"/>
          </a:xfrm>
          <a:prstGeom prst="rect">
            <a:avLst/>
          </a:prstGeom>
        </p:spPr>
        <p:txBody>
          <a:bodyPr anchorCtr="0" anchor="t" bIns="91425" lIns="91425" spcFirstLastPara="1" rIns="91425" wrap="square" tIns="91425">
            <a:noAutofit/>
          </a:bodyPr>
          <a:lstStyle/>
          <a:p>
            <a:pPr indent="457200" lvl="0" marL="63500" marR="101600" rtl="0" algn="just">
              <a:lnSpc>
                <a:spcPct val="130000"/>
              </a:lnSpc>
              <a:spcBef>
                <a:spcPts val="800"/>
              </a:spcBef>
              <a:spcAft>
                <a:spcPts val="0"/>
              </a:spcAft>
              <a:buSzPts val="770"/>
              <a:buNone/>
            </a:pPr>
            <a:r>
              <a:rPr lang="en" sz="1500">
                <a:latin typeface="Montserrat"/>
                <a:ea typeface="Montserrat"/>
                <a:cs typeface="Montserrat"/>
                <a:sym typeface="Montserrat"/>
              </a:rPr>
              <a:t>The proposed project uses U-Net as base model and Resnet34 is used as backbone of it to segment the images and produce respective results with high accuracy.  </a:t>
            </a:r>
            <a:br>
              <a:rPr lang="en" sz="1500">
                <a:latin typeface="Montserrat"/>
                <a:ea typeface="Montserrat"/>
                <a:cs typeface="Montserrat"/>
                <a:sym typeface="Montserrat"/>
              </a:rPr>
            </a:br>
            <a:r>
              <a:rPr lang="en" sz="1500">
                <a:latin typeface="Montserrat"/>
                <a:ea typeface="Montserrat"/>
                <a:cs typeface="Montserrat"/>
                <a:sym typeface="Montserrat"/>
              </a:rPr>
              <a:t>	The intuition behind U-Net is to encode the image passing it through a CNN as it gets downsampled and then decode it back or upsample it to obtain the segmentation mask. The features to be detected in the mask depends on the learned weight filters, upsampling &amp; downsampling blocks (which can also be made learnable) and the concatenations &amp; skip connections. </a:t>
            </a:r>
            <a:br>
              <a:rPr lang="en" sz="1500">
                <a:latin typeface="Montserrat"/>
                <a:ea typeface="Montserrat"/>
                <a:cs typeface="Montserrat"/>
                <a:sym typeface="Montserrat"/>
              </a:rPr>
            </a:br>
            <a:r>
              <a:rPr lang="en" sz="1500">
                <a:latin typeface="Montserrat"/>
                <a:ea typeface="Montserrat"/>
                <a:cs typeface="Montserrat"/>
                <a:sym typeface="Montserrat"/>
              </a:rPr>
              <a:t>	The backbone is the architectural element which defines how these layers are arranged in the encoder network and they determine how the decoder network should be built. The backbone used is ResNet34 which performs encoding and downsampling by itself. </a:t>
            </a:r>
            <a:endParaRPr sz="1500">
              <a:latin typeface="Montserrat"/>
              <a:ea typeface="Montserrat"/>
              <a:cs typeface="Montserrat"/>
              <a:sym typeface="Montserrat"/>
            </a:endParaRPr>
          </a:p>
          <a:p>
            <a:pPr indent="0" lvl="0" marL="0" rtl="0" algn="l">
              <a:lnSpc>
                <a:spcPct val="95000"/>
              </a:lnSpc>
              <a:spcBef>
                <a:spcPts val="0"/>
              </a:spcBef>
              <a:spcAft>
                <a:spcPts val="1200"/>
              </a:spcAft>
              <a:buSzPts val="770"/>
              <a:buNone/>
            </a:pPr>
            <a:r>
              <a:t/>
            </a:r>
            <a:endParaRPr sz="1500">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7650" y="1169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Literature Survey:</a:t>
            </a:r>
            <a:endParaRPr>
              <a:latin typeface="Montserrat"/>
              <a:ea typeface="Montserrat"/>
              <a:cs typeface="Montserrat"/>
              <a:sym typeface="Montserrat"/>
            </a:endParaRPr>
          </a:p>
        </p:txBody>
      </p:sp>
      <p:sp>
        <p:nvSpPr>
          <p:cNvPr id="123" name="Google Shape;123;p19"/>
          <p:cNvSpPr txBox="1"/>
          <p:nvPr>
            <p:ph idx="1" type="body"/>
          </p:nvPr>
        </p:nvSpPr>
        <p:spPr>
          <a:xfrm>
            <a:off x="1094700" y="1704775"/>
            <a:ext cx="7810500" cy="3244800"/>
          </a:xfrm>
          <a:prstGeom prst="rect">
            <a:avLst/>
          </a:prstGeom>
        </p:spPr>
        <p:txBody>
          <a:bodyPr anchorCtr="0" anchor="t" bIns="91425" lIns="91425" spcFirstLastPara="1" rIns="91425" wrap="square" tIns="91425">
            <a:noAutofit/>
          </a:bodyPr>
          <a:lstStyle/>
          <a:p>
            <a:pPr indent="0" lvl="0" marL="0" marR="101600" rtl="0" algn="just">
              <a:lnSpc>
                <a:spcPct val="150000"/>
              </a:lnSpc>
              <a:spcBef>
                <a:spcPts val="1800"/>
              </a:spcBef>
              <a:spcAft>
                <a:spcPts val="0"/>
              </a:spcAft>
              <a:buNone/>
            </a:pPr>
            <a:r>
              <a:rPr b="1" lang="en" sz="1500">
                <a:solidFill>
                  <a:srgbClr val="000000"/>
                </a:solidFill>
                <a:latin typeface="Montserrat"/>
                <a:ea typeface="Montserrat"/>
                <a:cs typeface="Montserrat"/>
                <a:sym typeface="Montserrat"/>
              </a:rPr>
              <a:t>U-Net and its variants for medical image segmentation: </a:t>
            </a:r>
            <a:br>
              <a:rPr b="1" lang="en" sz="1500">
                <a:solidFill>
                  <a:srgbClr val="000000"/>
                </a:solidFill>
                <a:latin typeface="Montserrat"/>
                <a:ea typeface="Montserrat"/>
                <a:cs typeface="Montserrat"/>
                <a:sym typeface="Montserrat"/>
              </a:rPr>
            </a:br>
            <a:r>
              <a:rPr b="1" lang="en" sz="1500">
                <a:solidFill>
                  <a:srgbClr val="000000"/>
                </a:solidFill>
                <a:latin typeface="Montserrat"/>
                <a:ea typeface="Montserrat"/>
                <a:cs typeface="Montserrat"/>
                <a:sym typeface="Montserrat"/>
              </a:rPr>
              <a:t>	</a:t>
            </a:r>
            <a:r>
              <a:rPr lang="en" sz="1500">
                <a:solidFill>
                  <a:srgbClr val="000000"/>
                </a:solidFill>
                <a:latin typeface="Montserrat"/>
                <a:ea typeface="Montserrat"/>
                <a:cs typeface="Montserrat"/>
                <a:sym typeface="Montserrat"/>
              </a:rPr>
              <a:t>This paper states about how U-Net as been applied in medical industry. U-Net is an image segmentation technique developed primarily for medical image analysis that can precisely segment images using a scarce amount of training data. These traits provide U-Net with a very high utility within the medical imaging community and have resulted in extensive adoption of U-Net as the primary tool for segmentation tasks in medical imaging. </a:t>
            </a:r>
            <a:endParaRPr sz="1500">
              <a:highlight>
                <a:schemeClr val="lt1"/>
              </a:highlight>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idx="1" type="body"/>
          </p:nvPr>
        </p:nvSpPr>
        <p:spPr>
          <a:xfrm>
            <a:off x="727650" y="1859175"/>
            <a:ext cx="7688700" cy="2261100"/>
          </a:xfrm>
          <a:prstGeom prst="rect">
            <a:avLst/>
          </a:prstGeom>
        </p:spPr>
        <p:txBody>
          <a:bodyPr anchorCtr="0" anchor="t" bIns="91425" lIns="91425" spcFirstLastPara="1" rIns="91425" wrap="square" tIns="91425">
            <a:normAutofit/>
          </a:bodyPr>
          <a:lstStyle/>
          <a:p>
            <a:pPr indent="0" lvl="0" marL="0" marR="101600" rtl="0" algn="l">
              <a:lnSpc>
                <a:spcPct val="150000"/>
              </a:lnSpc>
              <a:spcBef>
                <a:spcPts val="300"/>
              </a:spcBef>
              <a:spcAft>
                <a:spcPts val="0"/>
              </a:spcAft>
              <a:buNone/>
            </a:pPr>
            <a:r>
              <a:rPr b="1" lang="en" sz="1500">
                <a:solidFill>
                  <a:srgbClr val="000000"/>
                </a:solidFill>
                <a:latin typeface="Montserrat"/>
                <a:ea typeface="Montserrat"/>
                <a:cs typeface="Montserrat"/>
                <a:sym typeface="Montserrat"/>
              </a:rPr>
              <a:t>Residual Attention U-Net for Automated Multi-Class Segmentation of</a:t>
            </a:r>
            <a:br>
              <a:rPr b="1" lang="en" sz="1500">
                <a:solidFill>
                  <a:srgbClr val="000000"/>
                </a:solidFill>
                <a:latin typeface="Montserrat"/>
                <a:ea typeface="Montserrat"/>
                <a:cs typeface="Montserrat"/>
                <a:sym typeface="Montserrat"/>
              </a:rPr>
            </a:br>
            <a:r>
              <a:rPr b="1" lang="en" sz="1500">
                <a:solidFill>
                  <a:srgbClr val="000000"/>
                </a:solidFill>
                <a:latin typeface="Montserrat"/>
                <a:ea typeface="Montserrat"/>
                <a:cs typeface="Montserrat"/>
                <a:sym typeface="Montserrat"/>
              </a:rPr>
              <a:t>COVID-19 Chest CT Images: </a:t>
            </a:r>
            <a:endParaRPr b="1" sz="1500">
              <a:solidFill>
                <a:srgbClr val="000000"/>
              </a:solidFill>
              <a:latin typeface="Montserrat"/>
              <a:ea typeface="Montserrat"/>
              <a:cs typeface="Montserrat"/>
              <a:sym typeface="Montserrat"/>
            </a:endParaRPr>
          </a:p>
          <a:p>
            <a:pPr indent="457200" lvl="0" marL="0" rtl="0" algn="l">
              <a:lnSpc>
                <a:spcPct val="150000"/>
              </a:lnSpc>
              <a:spcBef>
                <a:spcPts val="0"/>
              </a:spcBef>
              <a:spcAft>
                <a:spcPts val="0"/>
              </a:spcAft>
              <a:buNone/>
            </a:pPr>
            <a:r>
              <a:rPr lang="en" sz="1500">
                <a:solidFill>
                  <a:srgbClr val="000000"/>
                </a:solidFill>
                <a:latin typeface="Montserrat Medium"/>
                <a:ea typeface="Montserrat Medium"/>
                <a:cs typeface="Montserrat Medium"/>
                <a:sym typeface="Montserrat Medium"/>
              </a:rPr>
              <a:t>This paper states that novel deep learning model has been used for rapid and accurate segmentation of COVID-19 infection regions in chest CT scans. The model which is developed is based on the U-Net architecture, inspired with recent advancement in the deep learning ﬁeld.</a:t>
            </a:r>
            <a:endParaRPr sz="1500">
              <a:latin typeface="Montserrat Medium"/>
              <a:ea typeface="Montserrat Medium"/>
              <a:cs typeface="Montserrat Medium"/>
              <a:sym typeface="Montserrat Medium"/>
            </a:endParaRPr>
          </a:p>
        </p:txBody>
      </p:sp>
      <p:sp>
        <p:nvSpPr>
          <p:cNvPr id="129" name="Google Shape;129;p20"/>
          <p:cNvSpPr txBox="1"/>
          <p:nvPr>
            <p:ph type="title"/>
          </p:nvPr>
        </p:nvSpPr>
        <p:spPr>
          <a:xfrm>
            <a:off x="727650" y="1169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Literature Survey:</a:t>
            </a:r>
            <a:endParaRPr>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Problem</a:t>
            </a:r>
            <a:r>
              <a:rPr lang="en">
                <a:latin typeface="Montserrat"/>
                <a:ea typeface="Montserrat"/>
                <a:cs typeface="Montserrat"/>
                <a:sym typeface="Montserrat"/>
              </a:rPr>
              <a:t> Definition:</a:t>
            </a:r>
            <a:endParaRPr>
              <a:latin typeface="Montserrat"/>
              <a:ea typeface="Montserrat"/>
              <a:cs typeface="Montserrat"/>
              <a:sym typeface="Montserrat"/>
            </a:endParaRPr>
          </a:p>
        </p:txBody>
      </p:sp>
      <p:sp>
        <p:nvSpPr>
          <p:cNvPr id="135" name="Google Shape;135;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500">
                <a:solidFill>
                  <a:srgbClr val="202124"/>
                </a:solidFill>
                <a:latin typeface="Montserrat"/>
                <a:ea typeface="Montserrat"/>
                <a:cs typeface="Montserrat"/>
                <a:sym typeface="Montserrat"/>
              </a:rPr>
              <a:t>Medical image segmentation has an essential role in computer-aided diagnosis systems in different applications. It divides an image into areas based on a specified description, </a:t>
            </a:r>
            <a:r>
              <a:rPr b="1" lang="en" sz="1500">
                <a:solidFill>
                  <a:srgbClr val="202124"/>
                </a:solidFill>
                <a:latin typeface="Montserrat"/>
                <a:ea typeface="Montserrat"/>
                <a:cs typeface="Montserrat"/>
                <a:sym typeface="Montserrat"/>
              </a:rPr>
              <a:t>such as segmenting body organs/tissues in the medical applications for border detection, tumo</a:t>
            </a:r>
            <a:r>
              <a:rPr b="1" lang="en" sz="1500">
                <a:solidFill>
                  <a:srgbClr val="202124"/>
                </a:solidFill>
                <a:latin typeface="Montserrat"/>
                <a:ea typeface="Montserrat"/>
                <a:cs typeface="Montserrat"/>
                <a:sym typeface="Montserrat"/>
              </a:rPr>
              <a:t>r </a:t>
            </a:r>
            <a:r>
              <a:rPr b="1" lang="en" sz="1500">
                <a:solidFill>
                  <a:srgbClr val="202124"/>
                </a:solidFill>
                <a:latin typeface="Montserrat"/>
                <a:ea typeface="Montserrat"/>
                <a:cs typeface="Montserrat"/>
                <a:sym typeface="Montserrat"/>
              </a:rPr>
              <a:t>detection/segmentation, and mass detection.</a:t>
            </a:r>
            <a:r>
              <a:rPr b="1" lang="en" sz="1500">
                <a:solidFill>
                  <a:srgbClr val="000000"/>
                </a:solidFill>
                <a:latin typeface="Montserrat"/>
                <a:ea typeface="Montserrat"/>
                <a:cs typeface="Montserrat"/>
                <a:sym typeface="Montserrat"/>
              </a:rPr>
              <a:t> </a:t>
            </a:r>
            <a:endParaRPr b="1" sz="1500">
              <a:solidFill>
                <a:srgbClr val="000000"/>
              </a:solidFill>
              <a:latin typeface="Montserrat"/>
              <a:ea typeface="Montserrat"/>
              <a:cs typeface="Montserrat"/>
              <a:sym typeface="Montserrat"/>
            </a:endParaRPr>
          </a:p>
          <a:p>
            <a:pPr indent="0" lvl="0" marL="0" rtl="0" algn="l">
              <a:spcBef>
                <a:spcPts val="0"/>
              </a:spcBef>
              <a:spcAft>
                <a:spcPts val="1200"/>
              </a:spcAft>
              <a:buNone/>
            </a:pPr>
            <a:r>
              <a:t/>
            </a:r>
            <a:endParaRPr b="1" sz="150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Modules:</a:t>
            </a:r>
            <a:endParaRPr>
              <a:latin typeface="Montserrat"/>
              <a:ea typeface="Montserrat"/>
              <a:cs typeface="Montserrat"/>
              <a:sym typeface="Montserrat"/>
            </a:endParaRPr>
          </a:p>
        </p:txBody>
      </p:sp>
      <p:sp>
        <p:nvSpPr>
          <p:cNvPr id="141" name="Google Shape;141;p22"/>
          <p:cNvSpPr txBox="1"/>
          <p:nvPr>
            <p:ph idx="1" type="body"/>
          </p:nvPr>
        </p:nvSpPr>
        <p:spPr>
          <a:xfrm>
            <a:off x="1249375" y="1853850"/>
            <a:ext cx="7688700" cy="303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latin typeface="Montserrat"/>
                <a:ea typeface="Montserrat"/>
                <a:cs typeface="Montserrat"/>
                <a:sym typeface="Montserrat"/>
              </a:rPr>
              <a:t>Module 1: </a:t>
            </a:r>
            <a:endParaRPr b="1" sz="1500">
              <a:latin typeface="Montserrat"/>
              <a:ea typeface="Montserrat"/>
              <a:cs typeface="Montserrat"/>
              <a:sym typeface="Montserrat"/>
            </a:endParaRPr>
          </a:p>
          <a:p>
            <a:pPr indent="0" lvl="0" marL="0" rtl="0" algn="l">
              <a:lnSpc>
                <a:spcPct val="115000"/>
              </a:lnSpc>
              <a:spcBef>
                <a:spcPts val="1200"/>
              </a:spcBef>
              <a:spcAft>
                <a:spcPts val="0"/>
              </a:spcAft>
              <a:buNone/>
            </a:pPr>
            <a:r>
              <a:rPr lang="en" sz="1500">
                <a:latin typeface="Montserrat"/>
                <a:ea typeface="Montserrat"/>
                <a:cs typeface="Montserrat"/>
                <a:sym typeface="Montserrat"/>
              </a:rPr>
              <a:t>	DataSet collection for multiple organs and diseases and preprocessing of dataset</a:t>
            </a:r>
            <a:endParaRPr sz="1500">
              <a:latin typeface="Montserrat"/>
              <a:ea typeface="Montserrat"/>
              <a:cs typeface="Montserrat"/>
              <a:sym typeface="Montserrat"/>
            </a:endParaRPr>
          </a:p>
          <a:p>
            <a:pPr indent="0" lvl="0" marL="0" rtl="0" algn="l">
              <a:lnSpc>
                <a:spcPct val="115000"/>
              </a:lnSpc>
              <a:spcBef>
                <a:spcPts val="1200"/>
              </a:spcBef>
              <a:spcAft>
                <a:spcPts val="0"/>
              </a:spcAft>
              <a:buNone/>
            </a:pPr>
            <a:r>
              <a:rPr b="1" lang="en" sz="1500">
                <a:latin typeface="Montserrat"/>
                <a:ea typeface="Montserrat"/>
                <a:cs typeface="Montserrat"/>
                <a:sym typeface="Montserrat"/>
              </a:rPr>
              <a:t>Module 2:</a:t>
            </a:r>
            <a:endParaRPr b="1" sz="1500">
              <a:latin typeface="Montserrat"/>
              <a:ea typeface="Montserrat"/>
              <a:cs typeface="Montserrat"/>
              <a:sym typeface="Montserrat"/>
            </a:endParaRPr>
          </a:p>
          <a:p>
            <a:pPr indent="0" lvl="0" marL="0" rtl="0" algn="l">
              <a:lnSpc>
                <a:spcPct val="115000"/>
              </a:lnSpc>
              <a:spcBef>
                <a:spcPts val="1200"/>
              </a:spcBef>
              <a:spcAft>
                <a:spcPts val="0"/>
              </a:spcAft>
              <a:buNone/>
            </a:pPr>
            <a:r>
              <a:rPr lang="en" sz="1500">
                <a:latin typeface="Montserrat"/>
                <a:ea typeface="Montserrat"/>
                <a:cs typeface="Montserrat"/>
                <a:sym typeface="Montserrat"/>
              </a:rPr>
              <a:t>	Model Building and fine tuning</a:t>
            </a:r>
            <a:endParaRPr sz="1500">
              <a:latin typeface="Montserrat"/>
              <a:ea typeface="Montserrat"/>
              <a:cs typeface="Montserrat"/>
              <a:sym typeface="Montserrat"/>
            </a:endParaRPr>
          </a:p>
          <a:p>
            <a:pPr indent="0" lvl="0" marL="0" rtl="0" algn="l">
              <a:lnSpc>
                <a:spcPct val="115000"/>
              </a:lnSpc>
              <a:spcBef>
                <a:spcPts val="1200"/>
              </a:spcBef>
              <a:spcAft>
                <a:spcPts val="0"/>
              </a:spcAft>
              <a:buNone/>
            </a:pPr>
            <a:r>
              <a:rPr b="1" lang="en" sz="1500">
                <a:latin typeface="Montserrat"/>
                <a:ea typeface="Montserrat"/>
                <a:cs typeface="Montserrat"/>
                <a:sym typeface="Montserrat"/>
              </a:rPr>
              <a:t>Module 3:</a:t>
            </a:r>
            <a:endParaRPr b="1" sz="1500">
              <a:latin typeface="Montserrat"/>
              <a:ea typeface="Montserrat"/>
              <a:cs typeface="Montserrat"/>
              <a:sym typeface="Montserrat"/>
            </a:endParaRPr>
          </a:p>
          <a:p>
            <a:pPr indent="0" lvl="0" marL="0" rtl="0" algn="l">
              <a:lnSpc>
                <a:spcPct val="115000"/>
              </a:lnSpc>
              <a:spcBef>
                <a:spcPts val="1200"/>
              </a:spcBef>
              <a:spcAft>
                <a:spcPts val="0"/>
              </a:spcAft>
              <a:buNone/>
            </a:pPr>
            <a:r>
              <a:rPr lang="en" sz="1500">
                <a:latin typeface="Montserrat"/>
                <a:ea typeface="Montserrat"/>
                <a:cs typeface="Montserrat"/>
                <a:sym typeface="Montserrat"/>
              </a:rPr>
              <a:t>	Model Deployment(Web application) and Visualization</a:t>
            </a:r>
            <a:endParaRPr sz="1500">
              <a:latin typeface="Montserrat"/>
              <a:ea typeface="Montserrat"/>
              <a:cs typeface="Montserrat"/>
              <a:sym typeface="Montserrat"/>
            </a:endParaRPr>
          </a:p>
          <a:p>
            <a:pPr indent="0" lvl="0" marL="0" rtl="0" algn="l">
              <a:spcBef>
                <a:spcPts val="1200"/>
              </a:spcBef>
              <a:spcAft>
                <a:spcPts val="1200"/>
              </a:spcAft>
              <a:buNone/>
            </a:pPr>
            <a:r>
              <a:t/>
            </a:r>
            <a:endParaRPr sz="1500">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Hardware and Software </a:t>
            </a:r>
            <a:r>
              <a:rPr lang="en">
                <a:latin typeface="Montserrat"/>
                <a:ea typeface="Montserrat"/>
                <a:cs typeface="Montserrat"/>
                <a:sym typeface="Montserrat"/>
              </a:rPr>
              <a:t>Requirements</a:t>
            </a:r>
            <a:r>
              <a:rPr lang="en">
                <a:latin typeface="Montserrat"/>
                <a:ea typeface="Montserrat"/>
                <a:cs typeface="Montserrat"/>
                <a:sym typeface="Montserrat"/>
              </a:rPr>
              <a:t>:</a:t>
            </a:r>
            <a:endParaRPr>
              <a:latin typeface="Montserrat"/>
              <a:ea typeface="Montserrat"/>
              <a:cs typeface="Montserrat"/>
              <a:sym typeface="Montserrat"/>
            </a:endParaRPr>
          </a:p>
        </p:txBody>
      </p:sp>
      <p:sp>
        <p:nvSpPr>
          <p:cNvPr id="147" name="Google Shape;147;p23"/>
          <p:cNvSpPr txBox="1"/>
          <p:nvPr>
            <p:ph idx="1" type="body"/>
          </p:nvPr>
        </p:nvSpPr>
        <p:spPr>
          <a:xfrm>
            <a:off x="855800" y="2153075"/>
            <a:ext cx="7278600" cy="26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latin typeface="Montserrat"/>
                <a:ea typeface="Montserrat"/>
                <a:cs typeface="Montserrat"/>
                <a:sym typeface="Montserrat"/>
              </a:rPr>
              <a:t>Software Requirements:</a:t>
            </a:r>
            <a:endParaRPr sz="1500">
              <a:latin typeface="Montserrat"/>
              <a:ea typeface="Montserrat"/>
              <a:cs typeface="Montserrat"/>
              <a:sym typeface="Montserrat"/>
            </a:endParaRPr>
          </a:p>
          <a:p>
            <a:pPr indent="-323850" lvl="0" marL="457200" rtl="0" algn="l">
              <a:spcBef>
                <a:spcPts val="1200"/>
              </a:spcBef>
              <a:spcAft>
                <a:spcPts val="0"/>
              </a:spcAft>
              <a:buSzPts val="1500"/>
              <a:buFont typeface="Montserrat"/>
              <a:buChar char="❖"/>
            </a:pPr>
            <a:r>
              <a:rPr lang="en" sz="1500">
                <a:latin typeface="Montserrat"/>
                <a:ea typeface="Montserrat"/>
                <a:cs typeface="Montserrat"/>
                <a:sym typeface="Montserrat"/>
              </a:rPr>
              <a:t>ITK Snap</a:t>
            </a:r>
            <a:endParaRPr sz="1500">
              <a:latin typeface="Montserrat"/>
              <a:ea typeface="Montserrat"/>
              <a:cs typeface="Montserrat"/>
              <a:sym typeface="Montserrat"/>
            </a:endParaRPr>
          </a:p>
          <a:p>
            <a:pPr indent="-323850" lvl="0" marL="457200" rtl="0" algn="l">
              <a:spcBef>
                <a:spcPts val="0"/>
              </a:spcBef>
              <a:spcAft>
                <a:spcPts val="0"/>
              </a:spcAft>
              <a:buSzPts val="1500"/>
              <a:buFont typeface="Montserrat"/>
              <a:buChar char="❖"/>
            </a:pPr>
            <a:r>
              <a:rPr lang="en" sz="1500">
                <a:latin typeface="Montserrat"/>
                <a:ea typeface="Montserrat"/>
                <a:cs typeface="Montserrat"/>
                <a:sym typeface="Montserrat"/>
              </a:rPr>
              <a:t>3D Slicer</a:t>
            </a:r>
            <a:endParaRPr sz="1500">
              <a:latin typeface="Montserrat"/>
              <a:ea typeface="Montserrat"/>
              <a:cs typeface="Montserrat"/>
              <a:sym typeface="Montserrat"/>
            </a:endParaRPr>
          </a:p>
          <a:p>
            <a:pPr indent="-323850" lvl="0" marL="457200" rtl="0" algn="l">
              <a:spcBef>
                <a:spcPts val="0"/>
              </a:spcBef>
              <a:spcAft>
                <a:spcPts val="0"/>
              </a:spcAft>
              <a:buSzPts val="1500"/>
              <a:buFont typeface="Montserrat"/>
              <a:buChar char="❖"/>
            </a:pPr>
            <a:r>
              <a:rPr lang="en" sz="1500">
                <a:latin typeface="Montserrat"/>
                <a:ea typeface="Montserrat"/>
                <a:cs typeface="Montserrat"/>
                <a:sym typeface="Montserrat"/>
              </a:rPr>
              <a:t>Imagej</a:t>
            </a:r>
            <a:endParaRPr sz="1500">
              <a:latin typeface="Montserrat"/>
              <a:ea typeface="Montserrat"/>
              <a:cs typeface="Montserrat"/>
              <a:sym typeface="Montserrat"/>
            </a:endParaRPr>
          </a:p>
          <a:p>
            <a:pPr indent="0" lvl="0" marL="457200" rtl="0" algn="l">
              <a:spcBef>
                <a:spcPts val="1200"/>
              </a:spcBef>
              <a:spcAft>
                <a:spcPts val="0"/>
              </a:spcAft>
              <a:buNone/>
            </a:pPr>
            <a:r>
              <a:t/>
            </a:r>
            <a:endParaRPr sz="1500">
              <a:latin typeface="Montserrat"/>
              <a:ea typeface="Montserrat"/>
              <a:cs typeface="Montserrat"/>
              <a:sym typeface="Montserrat"/>
            </a:endParaRPr>
          </a:p>
          <a:p>
            <a:pPr indent="0" lvl="0" marL="0" rtl="0" algn="l">
              <a:spcBef>
                <a:spcPts val="1200"/>
              </a:spcBef>
              <a:spcAft>
                <a:spcPts val="0"/>
              </a:spcAft>
              <a:buNone/>
            </a:pPr>
            <a:r>
              <a:rPr lang="en" sz="1500">
                <a:latin typeface="Montserrat"/>
                <a:ea typeface="Montserrat"/>
                <a:cs typeface="Montserrat"/>
                <a:sym typeface="Montserrat"/>
              </a:rPr>
              <a:t>Hard</a:t>
            </a:r>
            <a:r>
              <a:rPr lang="en" sz="1500">
                <a:latin typeface="Montserrat"/>
                <a:ea typeface="Montserrat"/>
                <a:cs typeface="Montserrat"/>
                <a:sym typeface="Montserrat"/>
              </a:rPr>
              <a:t>ware Requirements:</a:t>
            </a:r>
            <a:endParaRPr sz="1500">
              <a:latin typeface="Montserrat"/>
              <a:ea typeface="Montserrat"/>
              <a:cs typeface="Montserrat"/>
              <a:sym typeface="Montserrat"/>
            </a:endParaRPr>
          </a:p>
          <a:p>
            <a:pPr indent="-323850" lvl="0" marL="457200" rtl="0" algn="l">
              <a:spcBef>
                <a:spcPts val="1200"/>
              </a:spcBef>
              <a:spcAft>
                <a:spcPts val="0"/>
              </a:spcAft>
              <a:buSzPts val="1500"/>
              <a:buFont typeface="Montserrat"/>
              <a:buChar char="❖"/>
            </a:pPr>
            <a:r>
              <a:rPr lang="en" sz="1500">
                <a:latin typeface="Montserrat"/>
                <a:ea typeface="Montserrat"/>
                <a:cs typeface="Montserrat"/>
                <a:sym typeface="Montserrat"/>
              </a:rPr>
              <a:t>Laptop or Desktop with GPU</a:t>
            </a:r>
            <a:endParaRPr sz="1500">
              <a:latin typeface="Montserrat"/>
              <a:ea typeface="Montserrat"/>
              <a:cs typeface="Montserrat"/>
              <a:sym typeface="Montserrat"/>
            </a:endParaRPr>
          </a:p>
        </p:txBody>
      </p:sp>
      <p:pic>
        <p:nvPicPr>
          <p:cNvPr id="148" name="Google Shape;148;p23"/>
          <p:cNvPicPr preferRelativeResize="0"/>
          <p:nvPr/>
        </p:nvPicPr>
        <p:blipFill>
          <a:blip r:embed="rId3">
            <a:alphaModFix/>
          </a:blip>
          <a:stretch>
            <a:fillRect/>
          </a:stretch>
        </p:blipFill>
        <p:spPr>
          <a:xfrm>
            <a:off x="3237950" y="2093775"/>
            <a:ext cx="2299075" cy="1819424"/>
          </a:xfrm>
          <a:prstGeom prst="rect">
            <a:avLst/>
          </a:prstGeom>
          <a:noFill/>
          <a:ln>
            <a:noFill/>
          </a:ln>
        </p:spPr>
      </p:pic>
      <p:pic>
        <p:nvPicPr>
          <p:cNvPr id="149" name="Google Shape;149;p23"/>
          <p:cNvPicPr preferRelativeResize="0"/>
          <p:nvPr/>
        </p:nvPicPr>
        <p:blipFill>
          <a:blip r:embed="rId4">
            <a:alphaModFix/>
          </a:blip>
          <a:stretch>
            <a:fillRect/>
          </a:stretch>
        </p:blipFill>
        <p:spPr>
          <a:xfrm>
            <a:off x="6236325" y="2093775"/>
            <a:ext cx="1898075" cy="19123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727650" y="61700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Montserrat"/>
                <a:ea typeface="Montserrat"/>
                <a:cs typeface="Montserrat"/>
                <a:sym typeface="Montserrat"/>
              </a:rPr>
              <a:t>Model Pipeline</a:t>
            </a:r>
            <a:endParaRPr>
              <a:latin typeface="Montserrat"/>
              <a:ea typeface="Montserrat"/>
              <a:cs typeface="Montserrat"/>
              <a:sym typeface="Montserrat"/>
            </a:endParaRPr>
          </a:p>
        </p:txBody>
      </p:sp>
      <p:pic>
        <p:nvPicPr>
          <p:cNvPr id="155" name="Google Shape;155;p24"/>
          <p:cNvPicPr preferRelativeResize="0"/>
          <p:nvPr/>
        </p:nvPicPr>
        <p:blipFill>
          <a:blip r:embed="rId3">
            <a:alphaModFix/>
          </a:blip>
          <a:stretch>
            <a:fillRect/>
          </a:stretch>
        </p:blipFill>
        <p:spPr>
          <a:xfrm>
            <a:off x="1657973" y="1152200"/>
            <a:ext cx="5959900" cy="392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635875" y="1118950"/>
            <a:ext cx="7700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40">
                <a:latin typeface="Montserrat"/>
                <a:ea typeface="Montserrat"/>
                <a:cs typeface="Montserrat"/>
                <a:sym typeface="Montserrat"/>
              </a:rPr>
              <a:t>Brain Segmentation Dice coeff ,BCE,jaccard loss </a:t>
            </a:r>
            <a:r>
              <a:rPr lang="en" sz="2040">
                <a:latin typeface="Montserrat"/>
                <a:ea typeface="Montserrat"/>
                <a:cs typeface="Montserrat"/>
                <a:sym typeface="Montserrat"/>
              </a:rPr>
              <a:t>comparison</a:t>
            </a:r>
            <a:endParaRPr sz="2040">
              <a:latin typeface="Montserrat"/>
              <a:ea typeface="Montserrat"/>
              <a:cs typeface="Montserrat"/>
              <a:sym typeface="Montserrat"/>
            </a:endParaRPr>
          </a:p>
        </p:txBody>
      </p:sp>
      <p:pic>
        <p:nvPicPr>
          <p:cNvPr id="161" name="Google Shape;161;p25"/>
          <p:cNvPicPr preferRelativeResize="0"/>
          <p:nvPr/>
        </p:nvPicPr>
        <p:blipFill>
          <a:blip r:embed="rId3">
            <a:alphaModFix/>
          </a:blip>
          <a:stretch>
            <a:fillRect/>
          </a:stretch>
        </p:blipFill>
        <p:spPr>
          <a:xfrm>
            <a:off x="729440" y="1934175"/>
            <a:ext cx="2025261" cy="3028326"/>
          </a:xfrm>
          <a:prstGeom prst="rect">
            <a:avLst/>
          </a:prstGeom>
          <a:noFill/>
          <a:ln>
            <a:noFill/>
          </a:ln>
        </p:spPr>
      </p:pic>
      <p:pic>
        <p:nvPicPr>
          <p:cNvPr id="162" name="Google Shape;162;p25"/>
          <p:cNvPicPr preferRelativeResize="0"/>
          <p:nvPr/>
        </p:nvPicPr>
        <p:blipFill>
          <a:blip r:embed="rId4">
            <a:alphaModFix/>
          </a:blip>
          <a:stretch>
            <a:fillRect/>
          </a:stretch>
        </p:blipFill>
        <p:spPr>
          <a:xfrm>
            <a:off x="2895023" y="1816712"/>
            <a:ext cx="2203375" cy="3145788"/>
          </a:xfrm>
          <a:prstGeom prst="rect">
            <a:avLst/>
          </a:prstGeom>
          <a:noFill/>
          <a:ln>
            <a:noFill/>
          </a:ln>
        </p:spPr>
      </p:pic>
      <p:pic>
        <p:nvPicPr>
          <p:cNvPr id="163" name="Google Shape;163;p25"/>
          <p:cNvPicPr preferRelativeResize="0"/>
          <p:nvPr/>
        </p:nvPicPr>
        <p:blipFill>
          <a:blip r:embed="rId5">
            <a:alphaModFix/>
          </a:blip>
          <a:stretch>
            <a:fillRect/>
          </a:stretch>
        </p:blipFill>
        <p:spPr>
          <a:xfrm>
            <a:off x="5372850" y="2420545"/>
            <a:ext cx="1928125" cy="1372800"/>
          </a:xfrm>
          <a:prstGeom prst="rect">
            <a:avLst/>
          </a:prstGeom>
          <a:noFill/>
          <a:ln>
            <a:noFill/>
          </a:ln>
        </p:spPr>
      </p:pic>
      <p:sp>
        <p:nvSpPr>
          <p:cNvPr id="164" name="Google Shape;164;p25"/>
          <p:cNvSpPr txBox="1"/>
          <p:nvPr/>
        </p:nvSpPr>
        <p:spPr>
          <a:xfrm>
            <a:off x="5625050" y="1913875"/>
            <a:ext cx="15684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Jaccard loss</a:t>
            </a: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Brain tumour segmentation output</a:t>
            </a:r>
            <a:endParaRPr>
              <a:latin typeface="Montserrat"/>
              <a:ea typeface="Montserrat"/>
              <a:cs typeface="Montserrat"/>
              <a:sym typeface="Montserrat"/>
            </a:endParaRPr>
          </a:p>
        </p:txBody>
      </p:sp>
      <p:pic>
        <p:nvPicPr>
          <p:cNvPr id="170" name="Google Shape;170;p26"/>
          <p:cNvPicPr preferRelativeResize="0"/>
          <p:nvPr/>
        </p:nvPicPr>
        <p:blipFill>
          <a:blip r:embed="rId3">
            <a:alphaModFix/>
          </a:blip>
          <a:stretch>
            <a:fillRect/>
          </a:stretch>
        </p:blipFill>
        <p:spPr>
          <a:xfrm>
            <a:off x="5461399" y="2328620"/>
            <a:ext cx="2745399" cy="1553850"/>
          </a:xfrm>
          <a:prstGeom prst="rect">
            <a:avLst/>
          </a:prstGeom>
          <a:noFill/>
          <a:ln>
            <a:noFill/>
          </a:ln>
        </p:spPr>
      </p:pic>
      <p:pic>
        <p:nvPicPr>
          <p:cNvPr id="171" name="Google Shape;171;p26"/>
          <p:cNvPicPr preferRelativeResize="0"/>
          <p:nvPr/>
        </p:nvPicPr>
        <p:blipFill>
          <a:blip r:embed="rId4">
            <a:alphaModFix/>
          </a:blip>
          <a:stretch>
            <a:fillRect/>
          </a:stretch>
        </p:blipFill>
        <p:spPr>
          <a:xfrm>
            <a:off x="207125" y="2002679"/>
            <a:ext cx="4975365" cy="1879800"/>
          </a:xfrm>
          <a:prstGeom prst="rect">
            <a:avLst/>
          </a:prstGeom>
          <a:noFill/>
          <a:ln>
            <a:noFill/>
          </a:ln>
        </p:spPr>
      </p:pic>
      <p:sp>
        <p:nvSpPr>
          <p:cNvPr id="172" name="Google Shape;172;p26"/>
          <p:cNvSpPr txBox="1"/>
          <p:nvPr/>
        </p:nvSpPr>
        <p:spPr>
          <a:xfrm>
            <a:off x="5898400" y="1928425"/>
            <a:ext cx="1871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Times New Roman"/>
                <a:ea typeface="Times New Roman"/>
                <a:cs typeface="Times New Roman"/>
                <a:sym typeface="Times New Roman"/>
              </a:rPr>
              <a:t>Jaccard loss</a:t>
            </a:r>
            <a:endParaRPr b="1">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Lung Segmentation BCE Loss</a:t>
            </a:r>
            <a:endParaRPr>
              <a:latin typeface="Montserrat"/>
              <a:ea typeface="Montserrat"/>
              <a:cs typeface="Montserrat"/>
              <a:sym typeface="Montserrat"/>
            </a:endParaRPr>
          </a:p>
        </p:txBody>
      </p:sp>
      <p:pic>
        <p:nvPicPr>
          <p:cNvPr id="178" name="Google Shape;178;p27"/>
          <p:cNvPicPr preferRelativeResize="0"/>
          <p:nvPr/>
        </p:nvPicPr>
        <p:blipFill>
          <a:blip r:embed="rId3">
            <a:alphaModFix/>
          </a:blip>
          <a:stretch>
            <a:fillRect/>
          </a:stretch>
        </p:blipFill>
        <p:spPr>
          <a:xfrm>
            <a:off x="849425" y="2167844"/>
            <a:ext cx="2619500" cy="1868975"/>
          </a:xfrm>
          <a:prstGeom prst="rect">
            <a:avLst/>
          </a:prstGeom>
          <a:noFill/>
          <a:ln>
            <a:noFill/>
          </a:ln>
        </p:spPr>
      </p:pic>
      <p:pic>
        <p:nvPicPr>
          <p:cNvPr id="179" name="Google Shape;179;p27"/>
          <p:cNvPicPr preferRelativeResize="0"/>
          <p:nvPr/>
        </p:nvPicPr>
        <p:blipFill>
          <a:blip r:embed="rId4">
            <a:alphaModFix/>
          </a:blip>
          <a:stretch>
            <a:fillRect/>
          </a:stretch>
        </p:blipFill>
        <p:spPr>
          <a:xfrm>
            <a:off x="4170673" y="2198023"/>
            <a:ext cx="3182850" cy="1808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Retina Segmentation BCE Loss</a:t>
            </a:r>
            <a:endParaRPr>
              <a:latin typeface="Montserrat"/>
              <a:ea typeface="Montserrat"/>
              <a:cs typeface="Montserrat"/>
              <a:sym typeface="Montserrat"/>
            </a:endParaRPr>
          </a:p>
        </p:txBody>
      </p:sp>
      <p:pic>
        <p:nvPicPr>
          <p:cNvPr id="185" name="Google Shape;185;p28"/>
          <p:cNvPicPr preferRelativeResize="0"/>
          <p:nvPr/>
        </p:nvPicPr>
        <p:blipFill>
          <a:blip r:embed="rId3">
            <a:alphaModFix/>
          </a:blip>
          <a:stretch>
            <a:fillRect/>
          </a:stretch>
        </p:blipFill>
        <p:spPr>
          <a:xfrm>
            <a:off x="729450" y="2032475"/>
            <a:ext cx="3534375" cy="2519175"/>
          </a:xfrm>
          <a:prstGeom prst="rect">
            <a:avLst/>
          </a:prstGeom>
          <a:noFill/>
          <a:ln>
            <a:noFill/>
          </a:ln>
        </p:spPr>
      </p:pic>
      <p:pic>
        <p:nvPicPr>
          <p:cNvPr id="186" name="Google Shape;186;p28"/>
          <p:cNvPicPr preferRelativeResize="0"/>
          <p:nvPr/>
        </p:nvPicPr>
        <p:blipFill>
          <a:blip r:embed="rId4">
            <a:alphaModFix/>
          </a:blip>
          <a:stretch>
            <a:fillRect/>
          </a:stretch>
        </p:blipFill>
        <p:spPr>
          <a:xfrm>
            <a:off x="4619400" y="2146450"/>
            <a:ext cx="4099450" cy="2032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Application ScreenShots</a:t>
            </a:r>
            <a:endParaRPr>
              <a:latin typeface="Montserrat"/>
              <a:ea typeface="Montserrat"/>
              <a:cs typeface="Montserrat"/>
              <a:sym typeface="Montserrat"/>
            </a:endParaRPr>
          </a:p>
        </p:txBody>
      </p:sp>
      <p:pic>
        <p:nvPicPr>
          <p:cNvPr id="192" name="Google Shape;192;p29"/>
          <p:cNvPicPr preferRelativeResize="0"/>
          <p:nvPr/>
        </p:nvPicPr>
        <p:blipFill>
          <a:blip r:embed="rId3">
            <a:alphaModFix/>
          </a:blip>
          <a:stretch>
            <a:fillRect/>
          </a:stretch>
        </p:blipFill>
        <p:spPr>
          <a:xfrm>
            <a:off x="205997" y="2122400"/>
            <a:ext cx="4291924" cy="2026275"/>
          </a:xfrm>
          <a:prstGeom prst="rect">
            <a:avLst/>
          </a:prstGeom>
          <a:noFill/>
          <a:ln>
            <a:noFill/>
          </a:ln>
        </p:spPr>
      </p:pic>
      <p:pic>
        <p:nvPicPr>
          <p:cNvPr id="193" name="Google Shape;193;p29"/>
          <p:cNvPicPr preferRelativeResize="0"/>
          <p:nvPr/>
        </p:nvPicPr>
        <p:blipFill>
          <a:blip r:embed="rId4">
            <a:alphaModFix/>
          </a:blip>
          <a:stretch>
            <a:fillRect/>
          </a:stretch>
        </p:blipFill>
        <p:spPr>
          <a:xfrm>
            <a:off x="4783700" y="2078875"/>
            <a:ext cx="3985894" cy="2026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30"/>
          <p:cNvPicPr preferRelativeResize="0"/>
          <p:nvPr/>
        </p:nvPicPr>
        <p:blipFill>
          <a:blip r:embed="rId3">
            <a:alphaModFix/>
          </a:blip>
          <a:stretch>
            <a:fillRect/>
          </a:stretch>
        </p:blipFill>
        <p:spPr>
          <a:xfrm>
            <a:off x="131003" y="1296775"/>
            <a:ext cx="5618350" cy="3203950"/>
          </a:xfrm>
          <a:prstGeom prst="rect">
            <a:avLst/>
          </a:prstGeom>
          <a:noFill/>
          <a:ln>
            <a:noFill/>
          </a:ln>
        </p:spPr>
      </p:pic>
      <p:pic>
        <p:nvPicPr>
          <p:cNvPr id="199" name="Google Shape;199;p30"/>
          <p:cNvPicPr preferRelativeResize="0"/>
          <p:nvPr/>
        </p:nvPicPr>
        <p:blipFill>
          <a:blip r:embed="rId4">
            <a:alphaModFix/>
          </a:blip>
          <a:stretch>
            <a:fillRect/>
          </a:stretch>
        </p:blipFill>
        <p:spPr>
          <a:xfrm>
            <a:off x="4372609" y="1310000"/>
            <a:ext cx="4050440" cy="3177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ph type="title"/>
          </p:nvPr>
        </p:nvSpPr>
        <p:spPr>
          <a:xfrm>
            <a:off x="727650" y="1330275"/>
            <a:ext cx="7688700" cy="535200"/>
          </a:xfrm>
          <a:prstGeom prst="rect">
            <a:avLst/>
          </a:prstGeom>
        </p:spPr>
        <p:txBody>
          <a:bodyPr anchorCtr="0" anchor="t" bIns="91425" lIns="91425" spcFirstLastPara="1" rIns="91425" wrap="square" tIns="91425">
            <a:noAutofit/>
          </a:bodyPr>
          <a:lstStyle/>
          <a:p>
            <a:pPr indent="0" lvl="0" marL="0" marR="38100" rtl="0" algn="l">
              <a:lnSpc>
                <a:spcPct val="115000"/>
              </a:lnSpc>
              <a:spcBef>
                <a:spcPts val="1300"/>
              </a:spcBef>
              <a:spcAft>
                <a:spcPts val="0"/>
              </a:spcAft>
              <a:buSzPts val="990"/>
              <a:buNone/>
            </a:pPr>
            <a:r>
              <a:rPr lang="en" sz="2300">
                <a:solidFill>
                  <a:srgbClr val="000000"/>
                </a:solidFill>
                <a:latin typeface="Montserrat"/>
                <a:ea typeface="Montserrat"/>
                <a:cs typeface="Montserrat"/>
                <a:sym typeface="Montserrat"/>
              </a:rPr>
              <a:t>CONCLUSION AND FUTURE ENHANCEMENTS</a:t>
            </a:r>
            <a:endParaRPr sz="2300">
              <a:solidFill>
                <a:srgbClr val="000000"/>
              </a:solidFill>
              <a:latin typeface="Montserrat"/>
              <a:ea typeface="Montserrat"/>
              <a:cs typeface="Montserrat"/>
              <a:sym typeface="Montserrat"/>
            </a:endParaRPr>
          </a:p>
          <a:p>
            <a:pPr indent="0" lvl="0" marL="0" rtl="0" algn="l">
              <a:spcBef>
                <a:spcPts val="0"/>
              </a:spcBef>
              <a:spcAft>
                <a:spcPts val="0"/>
              </a:spcAft>
              <a:buSzPts val="990"/>
              <a:buNone/>
            </a:pPr>
            <a:r>
              <a:t/>
            </a:r>
            <a:endParaRPr sz="2300">
              <a:latin typeface="Montserrat"/>
              <a:ea typeface="Montserrat"/>
              <a:cs typeface="Montserrat"/>
              <a:sym typeface="Montserrat"/>
            </a:endParaRPr>
          </a:p>
        </p:txBody>
      </p:sp>
      <p:sp>
        <p:nvSpPr>
          <p:cNvPr id="205" name="Google Shape;205;p31"/>
          <p:cNvSpPr txBox="1"/>
          <p:nvPr>
            <p:ph idx="1" type="body"/>
          </p:nvPr>
        </p:nvSpPr>
        <p:spPr>
          <a:xfrm>
            <a:off x="602300" y="1698775"/>
            <a:ext cx="8297400" cy="3344400"/>
          </a:xfrm>
          <a:prstGeom prst="rect">
            <a:avLst/>
          </a:prstGeom>
        </p:spPr>
        <p:txBody>
          <a:bodyPr anchorCtr="0" anchor="t" bIns="91425" lIns="91425" spcFirstLastPara="1" rIns="91425" wrap="square" tIns="91425">
            <a:noAutofit/>
          </a:bodyPr>
          <a:lstStyle/>
          <a:p>
            <a:pPr indent="-266700" lvl="0" marL="330200" rtl="0" algn="l">
              <a:spcBef>
                <a:spcPts val="1800"/>
              </a:spcBef>
              <a:spcAft>
                <a:spcPts val="0"/>
              </a:spcAft>
              <a:buNone/>
            </a:pPr>
            <a:r>
              <a:rPr b="1" lang="en" sz="1500">
                <a:solidFill>
                  <a:srgbClr val="000000"/>
                </a:solidFill>
                <a:latin typeface="Montserrat"/>
                <a:ea typeface="Montserrat"/>
                <a:cs typeface="Montserrat"/>
                <a:sym typeface="Montserrat"/>
              </a:rPr>
              <a:t>Conclusion</a:t>
            </a:r>
            <a:endParaRPr b="1" sz="1500">
              <a:solidFill>
                <a:srgbClr val="000000"/>
              </a:solidFill>
              <a:latin typeface="Montserrat"/>
              <a:ea typeface="Montserrat"/>
              <a:cs typeface="Montserrat"/>
              <a:sym typeface="Montserrat"/>
            </a:endParaRPr>
          </a:p>
          <a:p>
            <a:pPr indent="457200" lvl="0" marL="63500" marR="101600" rtl="0" algn="just">
              <a:lnSpc>
                <a:spcPct val="150000"/>
              </a:lnSpc>
              <a:spcBef>
                <a:spcPts val="1200"/>
              </a:spcBef>
              <a:spcAft>
                <a:spcPts val="0"/>
              </a:spcAft>
              <a:buNone/>
            </a:pPr>
            <a:r>
              <a:rPr lang="en" sz="1500">
                <a:solidFill>
                  <a:srgbClr val="000000"/>
                </a:solidFill>
                <a:latin typeface="Montserrat"/>
                <a:ea typeface="Montserrat"/>
                <a:cs typeface="Montserrat"/>
                <a:sym typeface="Montserrat"/>
              </a:rPr>
              <a:t>This project will be useful for the doctor while diagnosing tumors to detect the severity and abnormality with high accuracy. Since the website is integrated with a deep learning model it can be used easily to segment the image feed for the purpose of finding abnormality in human body. The details can be viewed and accessed through a completely intelligent functioning of a dynamic website from time to time. Hence a software website which is developed acts as a complete aid and supportive aspect in the field of healthcare industry for the efficient diagnosis of abnormality in human body.</a:t>
            </a:r>
            <a:endParaRPr sz="1500">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idx="1" type="body"/>
          </p:nvPr>
        </p:nvSpPr>
        <p:spPr>
          <a:xfrm>
            <a:off x="727650" y="1865475"/>
            <a:ext cx="7688700" cy="2261100"/>
          </a:xfrm>
          <a:prstGeom prst="rect">
            <a:avLst/>
          </a:prstGeom>
        </p:spPr>
        <p:txBody>
          <a:bodyPr anchorCtr="0" anchor="t" bIns="91425" lIns="91425" spcFirstLastPara="1" rIns="91425" wrap="square" tIns="91425">
            <a:normAutofit/>
          </a:bodyPr>
          <a:lstStyle/>
          <a:p>
            <a:pPr indent="0" lvl="0" marL="63500" marR="101600" rtl="0" algn="just">
              <a:lnSpc>
                <a:spcPct val="150000"/>
              </a:lnSpc>
              <a:spcBef>
                <a:spcPts val="1200"/>
              </a:spcBef>
              <a:spcAft>
                <a:spcPts val="0"/>
              </a:spcAft>
              <a:buNone/>
            </a:pPr>
            <a:r>
              <a:rPr b="1" lang="en" sz="1500">
                <a:solidFill>
                  <a:srgbClr val="000000"/>
                </a:solidFill>
                <a:latin typeface="Montserrat"/>
                <a:ea typeface="Montserrat"/>
                <a:cs typeface="Montserrat"/>
                <a:sym typeface="Montserrat"/>
              </a:rPr>
              <a:t>Future Enhancements:</a:t>
            </a:r>
            <a:endParaRPr b="1" sz="1500">
              <a:solidFill>
                <a:srgbClr val="000000"/>
              </a:solidFill>
              <a:latin typeface="Montserrat"/>
              <a:ea typeface="Montserrat"/>
              <a:cs typeface="Montserrat"/>
              <a:sym typeface="Montserrat"/>
            </a:endParaRPr>
          </a:p>
          <a:p>
            <a:pPr indent="457200" lvl="0" marL="63500" marR="254000" rtl="0" algn="l">
              <a:lnSpc>
                <a:spcPct val="150000"/>
              </a:lnSpc>
              <a:spcBef>
                <a:spcPts val="1200"/>
              </a:spcBef>
              <a:spcAft>
                <a:spcPts val="0"/>
              </a:spcAft>
              <a:buNone/>
            </a:pPr>
            <a:r>
              <a:rPr lang="en" sz="1500">
                <a:solidFill>
                  <a:srgbClr val="000000"/>
                </a:solidFill>
                <a:latin typeface="Montserrat Medium"/>
                <a:ea typeface="Montserrat Medium"/>
                <a:cs typeface="Montserrat Medium"/>
                <a:sym typeface="Montserrat Medium"/>
              </a:rPr>
              <a:t>Current system focuses mainly on three organs such as brain, lung, and retina. In future current model could be updated and integrated with the website to support segmentation of various.</a:t>
            </a:r>
            <a:endParaRPr sz="1500">
              <a:solidFill>
                <a:srgbClr val="000000"/>
              </a:solidFill>
              <a:latin typeface="Montserrat Medium"/>
              <a:ea typeface="Montserrat Medium"/>
              <a:cs typeface="Montserrat Medium"/>
              <a:sym typeface="Montserrat Medium"/>
            </a:endParaRPr>
          </a:p>
          <a:p>
            <a:pPr indent="0" lvl="0" marL="0" rtl="0" algn="l">
              <a:spcBef>
                <a:spcPts val="0"/>
              </a:spcBef>
              <a:spcAft>
                <a:spcPts val="1200"/>
              </a:spcAft>
              <a:buNone/>
            </a:pPr>
            <a:r>
              <a:t/>
            </a:r>
            <a:endParaRPr sz="1500">
              <a:latin typeface="Montserrat Medium"/>
              <a:ea typeface="Montserrat Medium"/>
              <a:cs typeface="Montserrat Medium"/>
              <a:sym typeface="Montserrat Medium"/>
            </a:endParaRPr>
          </a:p>
        </p:txBody>
      </p:sp>
      <p:sp>
        <p:nvSpPr>
          <p:cNvPr id="211" name="Google Shape;211;p32"/>
          <p:cNvSpPr txBox="1"/>
          <p:nvPr>
            <p:ph type="title"/>
          </p:nvPr>
        </p:nvSpPr>
        <p:spPr>
          <a:xfrm>
            <a:off x="727650" y="1330275"/>
            <a:ext cx="7688700" cy="535200"/>
          </a:xfrm>
          <a:prstGeom prst="rect">
            <a:avLst/>
          </a:prstGeom>
        </p:spPr>
        <p:txBody>
          <a:bodyPr anchorCtr="0" anchor="t" bIns="91425" lIns="91425" spcFirstLastPara="1" rIns="91425" wrap="square" tIns="91425">
            <a:noAutofit/>
          </a:bodyPr>
          <a:lstStyle/>
          <a:p>
            <a:pPr indent="0" lvl="0" marL="0" marR="38100" rtl="0" algn="l">
              <a:lnSpc>
                <a:spcPct val="115000"/>
              </a:lnSpc>
              <a:spcBef>
                <a:spcPts val="1300"/>
              </a:spcBef>
              <a:spcAft>
                <a:spcPts val="0"/>
              </a:spcAft>
              <a:buSzPts val="990"/>
              <a:buNone/>
            </a:pPr>
            <a:r>
              <a:rPr lang="en" sz="2300">
                <a:solidFill>
                  <a:srgbClr val="000000"/>
                </a:solidFill>
                <a:latin typeface="Montserrat"/>
                <a:ea typeface="Montserrat"/>
                <a:cs typeface="Montserrat"/>
                <a:sym typeface="Montserrat"/>
              </a:rPr>
              <a:t>CONCLUSION AND FUTURE ENHANCEMENTS</a:t>
            </a:r>
            <a:endParaRPr sz="2300">
              <a:solidFill>
                <a:srgbClr val="000000"/>
              </a:solidFill>
              <a:latin typeface="Montserrat"/>
              <a:ea typeface="Montserrat"/>
              <a:cs typeface="Montserrat"/>
              <a:sym typeface="Montserrat"/>
            </a:endParaRPr>
          </a:p>
          <a:p>
            <a:pPr indent="0" lvl="0" marL="0" rtl="0" algn="l">
              <a:spcBef>
                <a:spcPts val="0"/>
              </a:spcBef>
              <a:spcAft>
                <a:spcPts val="0"/>
              </a:spcAft>
              <a:buSzPts val="990"/>
              <a:buNone/>
            </a:pPr>
            <a:r>
              <a:t/>
            </a:r>
            <a:endParaRPr sz="2300">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References:</a:t>
            </a:r>
            <a:endParaRPr>
              <a:latin typeface="Montserrat"/>
              <a:ea typeface="Montserrat"/>
              <a:cs typeface="Montserrat"/>
              <a:sym typeface="Montserrat"/>
            </a:endParaRPr>
          </a:p>
        </p:txBody>
      </p:sp>
      <p:sp>
        <p:nvSpPr>
          <p:cNvPr id="217" name="Google Shape;217;p33"/>
          <p:cNvSpPr txBox="1"/>
          <p:nvPr>
            <p:ph idx="1" type="body"/>
          </p:nvPr>
        </p:nvSpPr>
        <p:spPr>
          <a:xfrm>
            <a:off x="863650" y="1853850"/>
            <a:ext cx="8096400" cy="2900700"/>
          </a:xfrm>
          <a:prstGeom prst="rect">
            <a:avLst/>
          </a:prstGeom>
        </p:spPr>
        <p:txBody>
          <a:bodyPr anchorCtr="0" anchor="t" bIns="91425" lIns="91425" spcFirstLastPara="1" rIns="91425" wrap="square" tIns="91425">
            <a:noAutofit/>
          </a:bodyPr>
          <a:lstStyle/>
          <a:p>
            <a:pPr indent="0" lvl="0" marL="0" marR="101600" rtl="0" algn="just">
              <a:lnSpc>
                <a:spcPct val="115000"/>
              </a:lnSpc>
              <a:spcBef>
                <a:spcPts val="1200"/>
              </a:spcBef>
              <a:spcAft>
                <a:spcPts val="0"/>
              </a:spcAft>
              <a:buNone/>
            </a:pPr>
            <a:r>
              <a:rPr lang="en" sz="1200">
                <a:solidFill>
                  <a:srgbClr val="000000"/>
                </a:solidFill>
                <a:latin typeface="Montserrat"/>
                <a:ea typeface="Montserrat"/>
                <a:cs typeface="Montserrat"/>
                <a:sym typeface="Montserrat"/>
              </a:rPr>
              <a:t>[1] Rocha, J., Cunha, A. &amp; Mendonça, A.M, J Med Syst “Conventional Filtering Versus U-Net Based Models for Pulmonary Nodule Segmentation In CT Images”</a:t>
            </a:r>
            <a:r>
              <a:rPr b="1" lang="en" sz="1200">
                <a:solidFill>
                  <a:srgbClr val="000000"/>
                </a:solidFill>
                <a:latin typeface="Montserrat"/>
                <a:ea typeface="Montserrat"/>
                <a:cs typeface="Montserrat"/>
                <a:sym typeface="Montserrat"/>
              </a:rPr>
              <a:t>, </a:t>
            </a:r>
            <a:r>
              <a:rPr lang="en" sz="1200">
                <a:solidFill>
                  <a:srgbClr val="000000"/>
                </a:solidFill>
                <a:latin typeface="Montserrat"/>
                <a:ea typeface="Montserrat"/>
                <a:cs typeface="Montserrat"/>
                <a:sym typeface="Montserrat"/>
              </a:rPr>
              <a:t>44</a:t>
            </a:r>
            <a:r>
              <a:rPr b="1" lang="en" sz="1200">
                <a:solidFill>
                  <a:srgbClr val="000000"/>
                </a:solidFill>
                <a:latin typeface="Montserrat"/>
                <a:ea typeface="Montserrat"/>
                <a:cs typeface="Montserrat"/>
                <a:sym typeface="Montserrat"/>
              </a:rPr>
              <a:t>, </a:t>
            </a:r>
            <a:r>
              <a:rPr lang="en" sz="1200">
                <a:solidFill>
                  <a:srgbClr val="000000"/>
                </a:solidFill>
                <a:latin typeface="Montserrat"/>
                <a:ea typeface="Montserrat"/>
                <a:cs typeface="Montserrat"/>
                <a:sym typeface="Montserrat"/>
              </a:rPr>
              <a:t>81 (2020).</a:t>
            </a:r>
            <a:endParaRPr sz="1200">
              <a:solidFill>
                <a:srgbClr val="000000"/>
              </a:solidFill>
              <a:latin typeface="Montserrat"/>
              <a:ea typeface="Montserrat"/>
              <a:cs typeface="Montserrat"/>
              <a:sym typeface="Montserrat"/>
            </a:endParaRPr>
          </a:p>
          <a:p>
            <a:pPr indent="0" lvl="0" marL="0" marR="101600" rtl="0" algn="just">
              <a:lnSpc>
                <a:spcPct val="115000"/>
              </a:lnSpc>
              <a:spcBef>
                <a:spcPts val="1200"/>
              </a:spcBef>
              <a:spcAft>
                <a:spcPts val="0"/>
              </a:spcAft>
              <a:buNone/>
            </a:pPr>
            <a:r>
              <a:rPr lang="en" sz="1200">
                <a:solidFill>
                  <a:srgbClr val="000000"/>
                </a:solidFill>
                <a:latin typeface="Montserrat"/>
                <a:ea typeface="Montserrat"/>
                <a:cs typeface="Montserrat"/>
                <a:sym typeface="Montserrat"/>
              </a:rPr>
              <a:t>[2] Yanming Guo, Yu Liu, Theodoros Georgiou &amp; Michael S. Lew, “Review of Semantic Segmentation using Deep Neura0l Networks”, International Journal of Multimedia Information Retrieval (2018).</a:t>
            </a:r>
            <a:endParaRPr sz="1200">
              <a:solidFill>
                <a:srgbClr val="000000"/>
              </a:solidFill>
              <a:latin typeface="Montserrat"/>
              <a:ea typeface="Montserrat"/>
              <a:cs typeface="Montserrat"/>
              <a:sym typeface="Montserrat"/>
            </a:endParaRPr>
          </a:p>
          <a:p>
            <a:pPr indent="0" lvl="0" marL="0" rtl="0" algn="l">
              <a:spcBef>
                <a:spcPts val="1000"/>
              </a:spcBef>
              <a:spcAft>
                <a:spcPts val="0"/>
              </a:spcAft>
              <a:buNone/>
            </a:pPr>
            <a:r>
              <a:rPr lang="en" sz="1200">
                <a:solidFill>
                  <a:srgbClr val="000000"/>
                </a:solidFill>
                <a:latin typeface="Montserrat"/>
                <a:ea typeface="Montserrat"/>
                <a:cs typeface="Montserrat"/>
                <a:sym typeface="Montserrat"/>
              </a:rPr>
              <a:t>[3] Md zahangir Alom, Mahmudul hasan, Chris yakopcic, Tarek M. Taha, vijayan K. Asari, “Recurrent residual convolutional neural network based on U-Net (r2u- net) for medical image segmentation”, (20 feb 2018)</a:t>
            </a:r>
            <a:endParaRPr sz="1200">
              <a:solidFill>
                <a:srgbClr val="000000"/>
              </a:solidFill>
              <a:latin typeface="Montserrat"/>
              <a:ea typeface="Montserrat"/>
              <a:cs typeface="Montserrat"/>
              <a:sym typeface="Montserrat"/>
            </a:endParaRPr>
          </a:p>
          <a:p>
            <a:pPr indent="0" lvl="0" marL="0" marR="101600" rtl="0" algn="just">
              <a:lnSpc>
                <a:spcPct val="115000"/>
              </a:lnSpc>
              <a:spcBef>
                <a:spcPts val="1200"/>
              </a:spcBef>
              <a:spcAft>
                <a:spcPts val="0"/>
              </a:spcAft>
              <a:buNone/>
            </a:pPr>
            <a:r>
              <a:rPr lang="en" sz="1200">
                <a:solidFill>
                  <a:srgbClr val="000000"/>
                </a:solidFill>
                <a:latin typeface="Montserrat"/>
                <a:ea typeface="Montserrat"/>
                <a:cs typeface="Montserrat"/>
                <a:sym typeface="Montserrat"/>
              </a:rPr>
              <a:t>[4] Aashis khanal, Rolando Estrada, “Dynamic deep networks for retinal vessel segmentation”, (19 mar 2019).</a:t>
            </a:r>
            <a:endParaRPr sz="1200">
              <a:solidFill>
                <a:srgbClr val="000000"/>
              </a:solidFill>
              <a:latin typeface="Montserrat"/>
              <a:ea typeface="Montserrat"/>
              <a:cs typeface="Montserrat"/>
              <a:sym typeface="Montserrat"/>
            </a:endParaRPr>
          </a:p>
          <a:p>
            <a:pPr indent="0" lvl="0" marL="0" marR="101600" rtl="0" algn="just">
              <a:lnSpc>
                <a:spcPct val="115000"/>
              </a:lnSpc>
              <a:spcBef>
                <a:spcPts val="1000"/>
              </a:spcBef>
              <a:spcAft>
                <a:spcPts val="0"/>
              </a:spcAft>
              <a:buNone/>
            </a:pPr>
            <a:r>
              <a:rPr lang="en" sz="1200">
                <a:solidFill>
                  <a:srgbClr val="000000"/>
                </a:solidFill>
                <a:latin typeface="Montserrat"/>
                <a:ea typeface="Montserrat"/>
                <a:cs typeface="Montserrat"/>
                <a:sym typeface="Montserrat"/>
              </a:rPr>
              <a:t>[5] S. Minaee, Y. Boykov, F. Porikli, A. Plaza, N. Kehtarnavaz, and D. Terzopoulos, “Image segmentation using deep learning: A survey,” arXiv preprint arXiv:2001.05566, 2020.</a:t>
            </a:r>
            <a:endParaRPr sz="1200">
              <a:solidFill>
                <a:srgbClr val="000000"/>
              </a:solidFill>
              <a:latin typeface="Montserrat"/>
              <a:ea typeface="Montserrat"/>
              <a:cs typeface="Montserrat"/>
              <a:sym typeface="Montserrat"/>
            </a:endParaRPr>
          </a:p>
          <a:p>
            <a:pPr indent="0" lvl="0" marL="0" rtl="0" algn="l">
              <a:spcBef>
                <a:spcPts val="1000"/>
              </a:spcBef>
              <a:spcAft>
                <a:spcPts val="0"/>
              </a:spcAft>
              <a:buNone/>
            </a:pPr>
            <a:r>
              <a:t/>
            </a:r>
            <a:endParaRPr sz="1200">
              <a:solidFill>
                <a:srgbClr val="000000"/>
              </a:solidFill>
              <a:latin typeface="Montserrat"/>
              <a:ea typeface="Montserrat"/>
              <a:cs typeface="Montserrat"/>
              <a:sym typeface="Montserrat"/>
            </a:endParaRPr>
          </a:p>
          <a:p>
            <a:pPr indent="0" lvl="0" marL="0" rtl="0" algn="l">
              <a:lnSpc>
                <a:spcPct val="115000"/>
              </a:lnSpc>
              <a:spcBef>
                <a:spcPts val="1200"/>
              </a:spcBef>
              <a:spcAft>
                <a:spcPts val="0"/>
              </a:spcAft>
              <a:buNone/>
            </a:pPr>
            <a:r>
              <a:t/>
            </a:r>
            <a:endParaRPr sz="1200">
              <a:solidFill>
                <a:srgbClr val="1A1A1A"/>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Awards:</a:t>
            </a:r>
            <a:endParaRPr>
              <a:latin typeface="Montserrat"/>
              <a:ea typeface="Montserrat"/>
              <a:cs typeface="Montserrat"/>
              <a:sym typeface="Montserrat"/>
            </a:endParaRPr>
          </a:p>
        </p:txBody>
      </p:sp>
      <p:sp>
        <p:nvSpPr>
          <p:cNvPr id="223" name="Google Shape;223;p34"/>
          <p:cNvSpPr txBox="1"/>
          <p:nvPr/>
        </p:nvSpPr>
        <p:spPr>
          <a:xfrm>
            <a:off x="952075" y="1772575"/>
            <a:ext cx="7512600" cy="1108200"/>
          </a:xfrm>
          <a:prstGeom prst="rect">
            <a:avLst/>
          </a:prstGeom>
          <a:noFill/>
          <a:ln>
            <a:noFill/>
          </a:ln>
        </p:spPr>
        <p:txBody>
          <a:bodyPr anchorCtr="0" anchor="t" bIns="91425" lIns="91425" spcFirstLastPara="1" rIns="91425" wrap="square" tIns="91425">
            <a:spAutoFit/>
          </a:bodyPr>
          <a:lstStyle/>
          <a:p>
            <a:pPr indent="457200" lvl="0" marL="0" rtl="0" algn="l">
              <a:lnSpc>
                <a:spcPct val="150000"/>
              </a:lnSpc>
              <a:spcBef>
                <a:spcPts val="200"/>
              </a:spcBef>
              <a:spcAft>
                <a:spcPts val="1200"/>
              </a:spcAft>
              <a:buNone/>
            </a:pPr>
            <a:r>
              <a:rPr lang="en" sz="1500">
                <a:latin typeface="Montserrat"/>
                <a:ea typeface="Montserrat"/>
                <a:cs typeface="Montserrat"/>
                <a:sym typeface="Montserrat"/>
              </a:rPr>
              <a:t>This Project Secured </a:t>
            </a:r>
            <a:r>
              <a:rPr b="1" lang="en" sz="1500">
                <a:latin typeface="Montserrat"/>
                <a:ea typeface="Montserrat"/>
                <a:cs typeface="Montserrat"/>
                <a:sym typeface="Montserrat"/>
              </a:rPr>
              <a:t>SECOND POSITION</a:t>
            </a:r>
            <a:r>
              <a:rPr lang="en" sz="1500">
                <a:latin typeface="Montserrat"/>
                <a:ea typeface="Montserrat"/>
                <a:cs typeface="Montserrat"/>
                <a:sym typeface="Montserrat"/>
              </a:rPr>
              <a:t> and won the </a:t>
            </a:r>
            <a:r>
              <a:rPr b="1" lang="en" sz="1500">
                <a:latin typeface="Montserrat"/>
                <a:ea typeface="Montserrat"/>
                <a:cs typeface="Montserrat"/>
                <a:sym typeface="Montserrat"/>
              </a:rPr>
              <a:t>CASH PRIZE</a:t>
            </a:r>
            <a:r>
              <a:rPr lang="en" sz="1500">
                <a:latin typeface="Montserrat"/>
                <a:ea typeface="Montserrat"/>
                <a:cs typeface="Montserrat"/>
                <a:sym typeface="Montserrat"/>
              </a:rPr>
              <a:t> worth of </a:t>
            </a:r>
            <a:r>
              <a:rPr b="1" lang="en" sz="1500">
                <a:latin typeface="Montserrat"/>
                <a:ea typeface="Montserrat"/>
                <a:cs typeface="Montserrat"/>
                <a:sym typeface="Montserrat"/>
              </a:rPr>
              <a:t>Rs 1,00,000</a:t>
            </a:r>
            <a:r>
              <a:rPr lang="en" sz="1500">
                <a:latin typeface="Montserrat"/>
                <a:ea typeface="Montserrat"/>
                <a:cs typeface="Montserrat"/>
                <a:sym typeface="Montserrat"/>
              </a:rPr>
              <a:t> in </a:t>
            </a:r>
            <a:r>
              <a:rPr b="1" lang="en" sz="1500">
                <a:latin typeface="Montserrat"/>
                <a:ea typeface="Montserrat"/>
                <a:cs typeface="Montserrat"/>
                <a:sym typeface="Montserrat"/>
              </a:rPr>
              <a:t>AI-HEALTHCARE-HACKATHON</a:t>
            </a:r>
            <a:r>
              <a:rPr lang="en" sz="1500">
                <a:latin typeface="Montserrat"/>
                <a:ea typeface="Montserrat"/>
                <a:cs typeface="Montserrat"/>
                <a:sym typeface="Montserrat"/>
              </a:rPr>
              <a:t> an Initiative of </a:t>
            </a:r>
            <a:r>
              <a:rPr b="1" lang="en" sz="1500">
                <a:latin typeface="Montserrat"/>
                <a:ea typeface="Montserrat"/>
                <a:cs typeface="Montserrat"/>
                <a:sym typeface="Montserrat"/>
              </a:rPr>
              <a:t>SINE – IITB,</a:t>
            </a:r>
            <a:r>
              <a:rPr lang="en" sz="1500">
                <a:latin typeface="Montserrat"/>
                <a:ea typeface="Montserrat"/>
                <a:cs typeface="Montserrat"/>
                <a:sym typeface="Montserrat"/>
              </a:rPr>
              <a:t> supported by </a:t>
            </a:r>
            <a:r>
              <a:rPr b="1" lang="en" sz="1500">
                <a:latin typeface="Montserrat"/>
                <a:ea typeface="Montserrat"/>
                <a:cs typeface="Montserrat"/>
                <a:sym typeface="Montserrat"/>
              </a:rPr>
              <a:t>MSH</a:t>
            </a:r>
            <a:r>
              <a:rPr lang="en" sz="1500">
                <a:latin typeface="Montserrat"/>
                <a:ea typeface="Montserrat"/>
                <a:cs typeface="Montserrat"/>
                <a:sym typeface="Montserrat"/>
              </a:rPr>
              <a:t>, </a:t>
            </a:r>
            <a:r>
              <a:rPr b="1" lang="en" sz="1500">
                <a:latin typeface="Montserrat"/>
                <a:ea typeface="Montserrat"/>
                <a:cs typeface="Montserrat"/>
                <a:sym typeface="Montserrat"/>
              </a:rPr>
              <a:t>MEITY</a:t>
            </a:r>
            <a:r>
              <a:rPr lang="en" sz="1500">
                <a:latin typeface="Montserrat"/>
                <a:ea typeface="Montserrat"/>
                <a:cs typeface="Montserrat"/>
                <a:sym typeface="Montserrat"/>
              </a:rPr>
              <a:t>, and organized by the </a:t>
            </a:r>
            <a:r>
              <a:rPr b="1" lang="en" sz="1500">
                <a:latin typeface="Montserrat"/>
                <a:ea typeface="Montserrat"/>
                <a:cs typeface="Montserrat"/>
                <a:sym typeface="Montserrat"/>
              </a:rPr>
              <a:t>DERBI Foundation</a:t>
            </a:r>
            <a:r>
              <a:rPr lang="en" sz="1500">
                <a:latin typeface="Montserrat"/>
                <a:ea typeface="Montserrat"/>
                <a:cs typeface="Montserrat"/>
                <a:sym typeface="Montserrat"/>
              </a:rPr>
              <a:t>. </a:t>
            </a:r>
            <a:endParaRPr sz="1500">
              <a:latin typeface="Montserrat"/>
              <a:ea typeface="Montserrat"/>
              <a:cs typeface="Montserrat"/>
              <a:sym typeface="Montserrat"/>
            </a:endParaRPr>
          </a:p>
        </p:txBody>
      </p:sp>
      <p:pic>
        <p:nvPicPr>
          <p:cNvPr id="224" name="Google Shape;224;p34"/>
          <p:cNvPicPr preferRelativeResize="0"/>
          <p:nvPr/>
        </p:nvPicPr>
        <p:blipFill>
          <a:blip r:embed="rId3">
            <a:alphaModFix/>
          </a:blip>
          <a:stretch>
            <a:fillRect/>
          </a:stretch>
        </p:blipFill>
        <p:spPr>
          <a:xfrm>
            <a:off x="152400" y="2991450"/>
            <a:ext cx="3983977" cy="1999650"/>
          </a:xfrm>
          <a:prstGeom prst="rect">
            <a:avLst/>
          </a:prstGeom>
          <a:noFill/>
          <a:ln>
            <a:noFill/>
          </a:ln>
        </p:spPr>
      </p:pic>
      <p:pic>
        <p:nvPicPr>
          <p:cNvPr id="225" name="Google Shape;225;p34"/>
          <p:cNvPicPr preferRelativeResize="0"/>
          <p:nvPr/>
        </p:nvPicPr>
        <p:blipFill>
          <a:blip r:embed="rId4">
            <a:alphaModFix/>
          </a:blip>
          <a:stretch>
            <a:fillRect/>
          </a:stretch>
        </p:blipFill>
        <p:spPr>
          <a:xfrm>
            <a:off x="4386224" y="3169837"/>
            <a:ext cx="4552626" cy="1642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nvSpPr>
        <p:spPr>
          <a:xfrm>
            <a:off x="1962900" y="2115500"/>
            <a:ext cx="5218200" cy="101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5400">
                <a:solidFill>
                  <a:srgbClr val="1A1A1A"/>
                </a:solidFill>
                <a:latin typeface="Montserrat"/>
                <a:ea typeface="Montserrat"/>
                <a:cs typeface="Montserrat"/>
                <a:sym typeface="Montserrat"/>
              </a:rPr>
              <a:t>Thank You !</a:t>
            </a:r>
            <a:endParaRPr b="1" sz="5400">
              <a:solidFill>
                <a:srgbClr val="1A1A1A"/>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